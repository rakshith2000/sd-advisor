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session: 20 minutes, then the live board. Two things to land - it is read-only, and it ranks rather than lists. Invite interruptions; this audience knows the queue better than the tool does.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Ask the room how they pick what to review on a Monday. The honest answer is usually "oldest first, or whatever someone chased" - which is the gap this fills.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are the whole pitch. Each is invisible in a list view and each is routine. If one of them lands with the room, the rest of the deck is easy.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Spell out the read-only point here rather than at the end. It is the first question a support team asks, and answering it early buys attention for everything after.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"explained". A lead who asks why a ticket is top of the list gets an arithmetic answer, not "the AI decided".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ticket page later and show the breakdown bars. The point is not the numbers, it is that they are visible and editable by the team rather than fixed by us.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right-hand column is the one to read aloud. Low-confidence suggestions are held back entirely rather than shown with a caveat nobody reads.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Mention that the digest is the main surface for most people. The board is for leads working a queue down.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earns trust. We are measuring our own false quiet and showing it to the people being asked to use the tool. Ask them to use the verdict buttons in the pilot; without them there is no accuracy number.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for a number, say so plainly: we will have an agreement rate and a review-time figure after the pilot, and we would rather bring real ones.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slide, read it quickly unless somebody from security is in the room. The scope point matters to agents - they will not see other queues.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asking for names for the pilot and a date to turn shadow mode off. Leave the board open on screen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here and switch to the live board.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4754880"/>
            <a:ext cx="12191695" cy="210312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13232" y="1371600"/>
            <a:ext cx="1280160" cy="508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13232" y="1737360"/>
            <a:ext cx="10765231" cy="2194560"/>
          </a:xfrm>
          <a:prstGeom prst="rect">
            <a:avLst/>
          </a:prstGeom>
          <a:noFill/>
        </p:spPr>
        <p:txBody>
          <a:bodyPr wrap="square">
            <a:spAutoFit/>
          </a:bodyPr>
          <a:lstStyle/>
          <a:p>
            <a:pPr>
              <a:lnSpc>
                <a:spcPct val="118000"/>
              </a:lnSpc>
              <a:spcBef>
                <a:spcPts val="0"/>
              </a:spcBef>
              <a:spcAft>
                <a:spcPts val="0"/>
              </a:spcAft>
            </a:pPr>
            <a:r>
              <a:rPr sz="4600" b="1">
                <a:solidFill>
                  <a:srgbClr val="FFFFFF"/>
                </a:solidFill>
                <a:latin typeface="Segoe UI"/>
              </a:rPr>
              <a:t>Aged Ticket Advisor</a:t>
            </a:r>
          </a:p>
          <a:p>
            <a:pPr>
              <a:lnSpc>
                <a:spcPct val="118000"/>
              </a:lnSpc>
              <a:spcBef>
                <a:spcPts val="1200"/>
              </a:spcBef>
              <a:spcAft>
                <a:spcPts val="0"/>
              </a:spcAft>
            </a:pPr>
            <a:r>
              <a:rPr sz="1900" b="0">
                <a:solidFill>
                  <a:srgbClr val="C3C2B7"/>
                </a:solidFill>
                <a:latin typeface="Segoe UI"/>
              </a:rPr>
              <a:t>Finding the tickets that are genuinely stuck - and saying what to do next</a:t>
            </a:r>
          </a:p>
        </p:txBody>
      </p:sp>
      <p:sp>
        <p:nvSpPr>
          <p:cNvPr id="6" name="TextBox 5"/>
          <p:cNvSpPr txBox="1"/>
          <p:nvPr/>
        </p:nvSpPr>
        <p:spPr>
          <a:xfrm>
            <a:off x="713232" y="5074920"/>
            <a:ext cx="9850831" cy="1371600"/>
          </a:xfrm>
          <a:prstGeom prst="rect">
            <a:avLst/>
          </a:prstGeom>
          <a:noFill/>
        </p:spPr>
        <p:txBody>
          <a:bodyPr wrap="square">
            <a:spAutoFit/>
          </a:bodyPr>
          <a:lstStyle/>
          <a:p>
            <a:pPr>
              <a:lnSpc>
                <a:spcPct val="118000"/>
              </a:lnSpc>
              <a:spcBef>
                <a:spcPts val="0"/>
              </a:spcBef>
              <a:spcAft>
                <a:spcPts val="0"/>
              </a:spcAft>
            </a:pPr>
            <a:r>
              <a:rPr sz="1400" b="0">
                <a:solidFill>
                  <a:srgbClr val="898781"/>
                </a:solidFill>
                <a:latin typeface="Segoe UI"/>
              </a:rPr>
              <a:t>A read-only companion to ServiceNow for any assignment group.  It never edits an incident.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13232" y="1737360"/>
            <a:ext cx="50800" cy="30175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1737360"/>
            <a:ext cx="10033711" cy="3108960"/>
          </a:xfrm>
          <a:prstGeom prst="rect">
            <a:avLst/>
          </a:prstGeom>
          <a:noFill/>
        </p:spPr>
        <p:txBody>
          <a:bodyPr wrap="square">
            <a:spAutoFit/>
          </a:bodyPr>
          <a:lstStyle/>
          <a:p>
            <a:pPr>
              <a:lnSpc>
                <a:spcPct val="118000"/>
              </a:lnSpc>
              <a:spcBef>
                <a:spcPts val="0"/>
              </a:spcBef>
              <a:spcAft>
                <a:spcPts val="0"/>
              </a:spcAft>
            </a:pPr>
            <a:r>
              <a:rPr sz="1100" b="1">
                <a:solidFill>
                  <a:srgbClr val="2A78D6"/>
                </a:solidFill>
                <a:latin typeface="Segoe UI"/>
              </a:rPr>
              <a:t>THE PROBLEM</a:t>
            </a:r>
          </a:p>
          <a:p>
            <a:pPr>
              <a:lnSpc>
                <a:spcPct val="118000"/>
              </a:lnSpc>
              <a:spcBef>
                <a:spcPts val="1400"/>
              </a:spcBef>
              <a:spcAft>
                <a:spcPts val="0"/>
              </a:spcAft>
            </a:pPr>
            <a:r>
              <a:rPr sz="3000" b="1">
                <a:solidFill>
                  <a:srgbClr val="0B0B0B"/>
                </a:solidFill>
                <a:latin typeface="Segoe UI"/>
              </a:rPr>
              <a:t>A long pending queue hides the handful of tickets that are actually stuck.</a:t>
            </a:r>
          </a:p>
          <a:p>
            <a:pPr>
              <a:lnSpc>
                <a:spcPct val="118000"/>
              </a:lnSpc>
              <a:spcBef>
                <a:spcPts val="1600"/>
              </a:spcBef>
              <a:spcAft>
                <a:spcPts val="0"/>
              </a:spcAft>
            </a:pPr>
            <a:r>
              <a:rPr sz="1500" b="0">
                <a:solidFill>
                  <a:srgbClr val="52514E"/>
                </a:solidFill>
                <a:latin typeface="Segoe UI"/>
              </a:rPr>
              <a:t>Everything in an aged list looks equally old. Nothing in it tells you which ones are legitimately waiting on somebody else, and which ones have been waiting on us the whole time.</a:t>
            </a:r>
          </a:p>
        </p:txBody>
      </p:sp>
      <p:sp>
        <p:nvSpPr>
          <p:cNvPr id="5" name="TextBox 4"/>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Team introduction</a:t>
            </a:r>
          </a:p>
        </p:txBody>
      </p:sp>
      <p:sp>
        <p:nvSpPr>
          <p:cNvPr id="6" name="TextBox 5"/>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274320"/>
          </a:xfrm>
          <a:prstGeom prst="rect">
            <a:avLst/>
          </a:prstGeom>
          <a:noFill/>
        </p:spPr>
        <p:txBody>
          <a:bodyPr wrap="square">
            <a:spAutoFit/>
          </a:bodyPr>
          <a:lstStyle/>
          <a:p>
            <a:pPr>
              <a:lnSpc>
                <a:spcPct val="118000"/>
              </a:lnSpc>
              <a:spcBef>
                <a:spcPts val="0"/>
              </a:spcBef>
              <a:spcAft>
                <a:spcPts val="0"/>
              </a:spcAft>
            </a:pPr>
            <a:r>
              <a:rPr sz="1050" b="1">
                <a:solidFill>
                  <a:srgbClr val="2A78D6"/>
                </a:solidFill>
                <a:latin typeface="Segoe UI"/>
              </a:rPr>
              <a:t>WHY THIS IS HARD</a:t>
            </a:r>
          </a:p>
        </p:txBody>
      </p:sp>
      <p:sp>
        <p:nvSpPr>
          <p:cNvPr id="4" name="TextBox 3"/>
          <p:cNvSpPr txBox="1"/>
          <p:nvPr/>
        </p:nvSpPr>
        <p:spPr>
          <a:xfrm>
            <a:off x="713232" y="786384"/>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What a manual review cannot see</a:t>
            </a:r>
          </a:p>
        </p:txBody>
      </p:sp>
      <p:sp>
        <p:nvSpPr>
          <p:cNvPr id="5" name="Rectangle 4"/>
          <p:cNvSpPr/>
          <p:nvPr/>
        </p:nvSpPr>
        <p:spPr>
          <a:xfrm>
            <a:off x="713232" y="1444752"/>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755648"/>
            <a:ext cx="10765231" cy="4416552"/>
          </a:xfrm>
          <a:prstGeom prst="rect">
            <a:avLst/>
          </a:prstGeom>
          <a:noFill/>
        </p:spPr>
        <p:txBody>
          <a:bodyPr wrap="square">
            <a:spAutoFit/>
          </a:bodyPr>
          <a:lstStyle/>
          <a:p>
            <a:pPr>
              <a:lnSpc>
                <a:spcPct val="118000"/>
              </a:lnSpc>
              <a:spcBef>
                <a:spcPts val="0"/>
              </a:spcBef>
              <a:spcAft>
                <a:spcPts val="0"/>
              </a:spcAft>
            </a:pPr>
            <a:r>
              <a:rPr sz="1600" b="1">
                <a:solidFill>
                  <a:srgbClr val="0B0B0B"/>
                </a:solidFill>
                <a:latin typeface="Segoe UI"/>
              </a:rPr>
              <a:t>·  The caller already replied</a:t>
            </a:r>
          </a:p>
          <a:p>
            <a:pPr lvl="1">
              <a:lnSpc>
                <a:spcPct val="118000"/>
              </a:lnSpc>
              <a:spcBef>
                <a:spcPts val="200"/>
              </a:spcBef>
              <a:spcAft>
                <a:spcPts val="0"/>
              </a:spcAft>
            </a:pPr>
            <a:r>
              <a:rPr sz="1350" b="0">
                <a:solidFill>
                  <a:srgbClr val="52514E"/>
                </a:solidFill>
                <a:latin typeface="Segoe UI"/>
              </a:rPr>
              <a:t>The incident still reads "Awaiting Caller", so it looks like their move. It has been ours since they answered.</a:t>
            </a:r>
          </a:p>
          <a:p>
            <a:pPr>
              <a:lnSpc>
                <a:spcPct val="118000"/>
              </a:lnSpc>
              <a:spcBef>
                <a:spcPts val="1300"/>
              </a:spcBef>
              <a:spcAft>
                <a:spcPts val="0"/>
              </a:spcAft>
            </a:pPr>
            <a:r>
              <a:rPr sz="1600" b="1">
                <a:solidFill>
                  <a:srgbClr val="0B0B0B"/>
                </a:solidFill>
                <a:latin typeface="Segoe UI"/>
              </a:rPr>
              <a:t>·  The dependency closed weeks ago</a:t>
            </a:r>
          </a:p>
          <a:p>
            <a:pPr lvl="1">
              <a:lnSpc>
                <a:spcPct val="118000"/>
              </a:lnSpc>
              <a:spcBef>
                <a:spcPts val="200"/>
              </a:spcBef>
              <a:spcAft>
                <a:spcPts val="0"/>
              </a:spcAft>
            </a:pPr>
            <a:r>
              <a:rPr sz="1350" b="0">
                <a:solidFill>
                  <a:srgbClr val="52514E"/>
                </a:solidFill>
                <a:latin typeface="Segoe UI"/>
              </a:rPr>
              <a:t>A change or problem the ticket was held for is complete, and nothing told anybody.</a:t>
            </a:r>
          </a:p>
          <a:p>
            <a:pPr>
              <a:lnSpc>
                <a:spcPct val="118000"/>
              </a:lnSpc>
              <a:spcBef>
                <a:spcPts val="1300"/>
              </a:spcBef>
              <a:spcAft>
                <a:spcPts val="0"/>
              </a:spcAft>
            </a:pPr>
            <a:r>
              <a:rPr sz="1600" b="1">
                <a:solidFill>
                  <a:srgbClr val="0B0B0B"/>
                </a:solidFill>
                <a:latin typeface="Segoe UI"/>
              </a:rPr>
              <a:t>·  The idle clock was reset by a robot</a:t>
            </a:r>
          </a:p>
          <a:p>
            <a:pPr lvl="1">
              <a:lnSpc>
                <a:spcPct val="118000"/>
              </a:lnSpc>
              <a:spcBef>
                <a:spcPts val="200"/>
              </a:spcBef>
              <a:spcAft>
                <a:spcPts val="0"/>
              </a:spcAft>
            </a:pPr>
            <a:r>
              <a:rPr sz="1350" b="0">
                <a:solidFill>
                  <a:srgbClr val="52514E"/>
                </a:solidFill>
                <a:latin typeface="Segoe UI"/>
              </a:rPr>
              <a:t>An SLA recalculation updates the record, so a ticket nobody has touched in nine days looks freshly worked.</a:t>
            </a:r>
          </a:p>
          <a:p>
            <a:pPr>
              <a:lnSpc>
                <a:spcPct val="118000"/>
              </a:lnSpc>
              <a:spcBef>
                <a:spcPts val="1300"/>
              </a:spcBef>
              <a:spcAft>
                <a:spcPts val="0"/>
              </a:spcAft>
            </a:pPr>
            <a:r>
              <a:rPr sz="1600" b="1">
                <a:solidFill>
                  <a:srgbClr val="0B0B0B"/>
                </a:solidFill>
                <a:latin typeface="Segoe UI"/>
              </a:rPr>
              <a:t>·  The breach is noticed afterwards</a:t>
            </a:r>
          </a:p>
          <a:p>
            <a:pPr lvl="1">
              <a:lnSpc>
                <a:spcPct val="118000"/>
              </a:lnSpc>
              <a:spcBef>
                <a:spcPts val="200"/>
              </a:spcBef>
              <a:spcAft>
                <a:spcPts val="0"/>
              </a:spcAft>
            </a:pPr>
            <a:r>
              <a:rPr sz="1350" b="0">
                <a:solidFill>
                  <a:srgbClr val="52514E"/>
                </a:solidFill>
                <a:latin typeface="Segoe UI"/>
              </a:rPr>
              <a:t>A ticket crosses its SLA quietly and is found at the next review.</a:t>
            </a:r>
          </a:p>
        </p:txBody>
      </p:sp>
      <p:sp>
        <p:nvSpPr>
          <p:cNvPr id="7" name="TextBox 6"/>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Team introduction</a:t>
            </a:r>
          </a:p>
        </p:txBody>
      </p:sp>
      <p:sp>
        <p:nvSpPr>
          <p:cNvPr id="8" name="TextBox 7"/>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What it actually does</a:t>
            </a:r>
          </a:p>
        </p:txBody>
      </p:sp>
      <p:sp>
        <p:nvSpPr>
          <p:cNvPr id="4" name="Rectangle 3"/>
          <p:cNvSpPr/>
          <p:nvPr/>
        </p:nvSpPr>
        <p:spPr>
          <a:xfrm>
            <a:off x="713232" y="1133856"/>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13232" y="1444752"/>
            <a:ext cx="10765231" cy="359664"/>
          </a:xfrm>
          <a:prstGeom prst="rect">
            <a:avLst/>
          </a:prstGeom>
          <a:noFill/>
        </p:spPr>
        <p:txBody>
          <a:bodyPr wrap="square">
            <a:spAutoFit/>
          </a:bodyPr>
          <a:lstStyle/>
          <a:p>
            <a:pPr>
              <a:lnSpc>
                <a:spcPct val="118000"/>
              </a:lnSpc>
              <a:spcBef>
                <a:spcPts val="0"/>
              </a:spcBef>
              <a:spcAft>
                <a:spcPts val="0"/>
              </a:spcAft>
            </a:pPr>
            <a:r>
              <a:rPr sz="1400" b="0">
                <a:solidFill>
                  <a:srgbClr val="52514E"/>
                </a:solidFill>
                <a:latin typeface="Segoe UI"/>
              </a:rPr>
              <a:t>Four loops. Only one of them involves a language model.</a:t>
            </a:r>
          </a:p>
        </p:txBody>
      </p:sp>
      <p:sp>
        <p:nvSpPr>
          <p:cNvPr id="6" name="Rounded Rectangle 5"/>
          <p:cNvSpPr/>
          <p:nvPr/>
        </p:nvSpPr>
        <p:spPr>
          <a:xfrm>
            <a:off x="713232" y="1804416"/>
            <a:ext cx="2458135" cy="2286000"/>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13232" y="1804416"/>
            <a:ext cx="2458135" cy="508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77824" y="1987296"/>
            <a:ext cx="2128951" cy="1965960"/>
          </a:xfrm>
          <a:prstGeom prst="rect">
            <a:avLst/>
          </a:prstGeom>
          <a:noFill/>
        </p:spPr>
        <p:txBody>
          <a:bodyPr wrap="square">
            <a:spAutoFit/>
          </a:bodyPr>
          <a:lstStyle/>
          <a:p>
            <a:pPr>
              <a:lnSpc>
                <a:spcPct val="118000"/>
              </a:lnSpc>
              <a:spcBef>
                <a:spcPts val="0"/>
              </a:spcBef>
              <a:spcAft>
                <a:spcPts val="0"/>
              </a:spcAft>
            </a:pPr>
            <a:r>
              <a:rPr sz="900" b="1">
                <a:solidFill>
                  <a:srgbClr val="2A78D6"/>
                </a:solidFill>
                <a:latin typeface="Segoe UI"/>
              </a:rPr>
              <a:t>EVERY 10 MIN</a:t>
            </a:r>
          </a:p>
          <a:p>
            <a:pPr>
              <a:lnSpc>
                <a:spcPct val="118000"/>
              </a:lnSpc>
              <a:spcBef>
                <a:spcPts val="700"/>
              </a:spcBef>
              <a:spcAft>
                <a:spcPts val="0"/>
              </a:spcAft>
            </a:pPr>
            <a:r>
              <a:rPr sz="1400" b="1">
                <a:solidFill>
                  <a:srgbClr val="0B0B0B"/>
                </a:solidFill>
                <a:latin typeface="Segoe UI"/>
              </a:rPr>
              <a:t>Sync</a:t>
            </a:r>
          </a:p>
          <a:p>
            <a:pPr>
              <a:lnSpc>
                <a:spcPct val="118000"/>
              </a:lnSpc>
              <a:spcBef>
                <a:spcPts val="700"/>
              </a:spcBef>
              <a:spcAft>
                <a:spcPts val="0"/>
              </a:spcAft>
            </a:pPr>
            <a:r>
              <a:rPr sz="1100" b="0">
                <a:solidFill>
                  <a:srgbClr val="52514E"/>
                </a:solidFill>
                <a:latin typeface="Segoe UI"/>
              </a:rPr>
              <a:t>Delta read of changed incidents, recompute every signal, fire risk alerts. No AI in this loop.</a:t>
            </a:r>
          </a:p>
        </p:txBody>
      </p:sp>
      <p:sp>
        <p:nvSpPr>
          <p:cNvPr id="9" name="Isosceles Triangle 8"/>
          <p:cNvSpPr/>
          <p:nvPr/>
        </p:nvSpPr>
        <p:spPr>
          <a:xfrm rot="5400000">
            <a:off x="3226231" y="2846832"/>
            <a:ext cx="201168" cy="201168"/>
          </a:xfrm>
          <a:prstGeom prst="triangle">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3482263" y="1804416"/>
            <a:ext cx="2458135" cy="2286000"/>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3482263" y="1804416"/>
            <a:ext cx="2458135" cy="508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3646855" y="1987296"/>
            <a:ext cx="2128951" cy="1965960"/>
          </a:xfrm>
          <a:prstGeom prst="rect">
            <a:avLst/>
          </a:prstGeom>
          <a:noFill/>
        </p:spPr>
        <p:txBody>
          <a:bodyPr wrap="square">
            <a:spAutoFit/>
          </a:bodyPr>
          <a:lstStyle/>
          <a:p>
            <a:pPr>
              <a:lnSpc>
                <a:spcPct val="118000"/>
              </a:lnSpc>
              <a:spcBef>
                <a:spcPts val="0"/>
              </a:spcBef>
              <a:spcAft>
                <a:spcPts val="0"/>
              </a:spcAft>
            </a:pPr>
            <a:r>
              <a:rPr sz="900" b="1">
                <a:solidFill>
                  <a:srgbClr val="2A78D6"/>
                </a:solidFill>
                <a:latin typeface="Segoe UI"/>
              </a:rPr>
              <a:t>HOURLY</a:t>
            </a:r>
          </a:p>
          <a:p>
            <a:pPr>
              <a:lnSpc>
                <a:spcPct val="118000"/>
              </a:lnSpc>
              <a:spcBef>
                <a:spcPts val="700"/>
              </a:spcBef>
              <a:spcAft>
                <a:spcPts val="0"/>
              </a:spcAft>
            </a:pPr>
            <a:r>
              <a:rPr sz="1400" b="1">
                <a:solidFill>
                  <a:srgbClr val="0B0B0B"/>
                </a:solidFill>
                <a:latin typeface="Segoe UI"/>
              </a:rPr>
              <a:t>Refresh</a:t>
            </a:r>
          </a:p>
          <a:p>
            <a:pPr>
              <a:lnSpc>
                <a:spcPct val="118000"/>
              </a:lnSpc>
              <a:spcBef>
                <a:spcPts val="700"/>
              </a:spcBef>
              <a:spcAft>
                <a:spcPts val="0"/>
              </a:spcAft>
            </a:pPr>
            <a:r>
              <a:rPr sz="1100" b="0">
                <a:solidFill>
                  <a:srgbClr val="52514E"/>
                </a:solidFill>
                <a:latin typeface="Segoe UI"/>
              </a:rPr>
              <a:t>Full sync - retires tickets that have been resolved or moved to another team - then a language model pass over whatever actually changed.</a:t>
            </a:r>
          </a:p>
        </p:txBody>
      </p:sp>
      <p:sp>
        <p:nvSpPr>
          <p:cNvPr id="13" name="Isosceles Triangle 12"/>
          <p:cNvSpPr/>
          <p:nvPr/>
        </p:nvSpPr>
        <p:spPr>
          <a:xfrm rot="5400000">
            <a:off x="5995263" y="2846832"/>
            <a:ext cx="201168" cy="201168"/>
          </a:xfrm>
          <a:prstGeom prst="triangle">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251295" y="1804416"/>
            <a:ext cx="2458135" cy="2286000"/>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251295" y="1804416"/>
            <a:ext cx="2458135" cy="508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15887" y="1987296"/>
            <a:ext cx="2128951" cy="1965960"/>
          </a:xfrm>
          <a:prstGeom prst="rect">
            <a:avLst/>
          </a:prstGeom>
          <a:noFill/>
        </p:spPr>
        <p:txBody>
          <a:bodyPr wrap="square">
            <a:spAutoFit/>
          </a:bodyPr>
          <a:lstStyle/>
          <a:p>
            <a:pPr>
              <a:lnSpc>
                <a:spcPct val="118000"/>
              </a:lnSpc>
              <a:spcBef>
                <a:spcPts val="0"/>
              </a:spcBef>
              <a:spcAft>
                <a:spcPts val="0"/>
              </a:spcAft>
            </a:pPr>
            <a:r>
              <a:rPr sz="900" b="1">
                <a:solidFill>
                  <a:srgbClr val="2A78D6"/>
                </a:solidFill>
                <a:latin typeface="Segoe UI"/>
              </a:rPr>
              <a:t>DAILY, PER QUEUE</a:t>
            </a:r>
          </a:p>
          <a:p>
            <a:pPr>
              <a:lnSpc>
                <a:spcPct val="118000"/>
              </a:lnSpc>
              <a:spcBef>
                <a:spcPts val="700"/>
              </a:spcBef>
              <a:spcAft>
                <a:spcPts val="0"/>
              </a:spcAft>
            </a:pPr>
            <a:r>
              <a:rPr sz="1400" b="1">
                <a:solidFill>
                  <a:srgbClr val="0B0B0B"/>
                </a:solidFill>
                <a:latin typeface="Segoe UI"/>
              </a:rPr>
              <a:t>Digest</a:t>
            </a:r>
          </a:p>
          <a:p>
            <a:pPr>
              <a:lnSpc>
                <a:spcPct val="118000"/>
              </a:lnSpc>
              <a:spcBef>
                <a:spcPts val="700"/>
              </a:spcBef>
              <a:spcAft>
                <a:spcPts val="0"/>
              </a:spcAft>
            </a:pPr>
            <a:r>
              <a:rPr sz="1100" b="0">
                <a:solidFill>
                  <a:srgbClr val="52514E"/>
                </a:solidFill>
                <a:latin typeface="Segoe UI"/>
              </a:rPr>
              <a:t>One ranked email per assignment group to its leads, then a short list to each agent.</a:t>
            </a:r>
          </a:p>
        </p:txBody>
      </p:sp>
      <p:sp>
        <p:nvSpPr>
          <p:cNvPr id="17" name="Isosceles Triangle 16"/>
          <p:cNvSpPr/>
          <p:nvPr/>
        </p:nvSpPr>
        <p:spPr>
          <a:xfrm rot="5400000">
            <a:off x="8764295" y="2846832"/>
            <a:ext cx="201168" cy="201168"/>
          </a:xfrm>
          <a:prstGeom prst="triangle">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9020327" y="1804416"/>
            <a:ext cx="2458135" cy="2286000"/>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9020327" y="1804416"/>
            <a:ext cx="2458135" cy="508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184919" y="1987296"/>
            <a:ext cx="2128951" cy="1965960"/>
          </a:xfrm>
          <a:prstGeom prst="rect">
            <a:avLst/>
          </a:prstGeom>
          <a:noFill/>
        </p:spPr>
        <p:txBody>
          <a:bodyPr wrap="square">
            <a:spAutoFit/>
          </a:bodyPr>
          <a:lstStyle/>
          <a:p>
            <a:pPr>
              <a:lnSpc>
                <a:spcPct val="118000"/>
              </a:lnSpc>
              <a:spcBef>
                <a:spcPts val="0"/>
              </a:spcBef>
              <a:spcAft>
                <a:spcPts val="0"/>
              </a:spcAft>
            </a:pPr>
            <a:r>
              <a:rPr sz="900" b="1">
                <a:solidFill>
                  <a:srgbClr val="2A78D6"/>
                </a:solidFill>
                <a:latin typeface="Segoe UI"/>
              </a:rPr>
              <a:t>NIGHTLY</a:t>
            </a:r>
          </a:p>
          <a:p>
            <a:pPr>
              <a:lnSpc>
                <a:spcPct val="118000"/>
              </a:lnSpc>
              <a:spcBef>
                <a:spcPts val="700"/>
              </a:spcBef>
              <a:spcAft>
                <a:spcPts val="0"/>
              </a:spcAft>
            </a:pPr>
            <a:r>
              <a:rPr sz="1400" b="1">
                <a:solidFill>
                  <a:srgbClr val="0B0B0B"/>
                </a:solidFill>
                <a:latin typeface="Segoe UI"/>
              </a:rPr>
              <a:t>Maintain</a:t>
            </a:r>
          </a:p>
          <a:p>
            <a:pPr>
              <a:lnSpc>
                <a:spcPct val="118000"/>
              </a:lnSpc>
              <a:spcBef>
                <a:spcPts val="700"/>
              </a:spcBef>
              <a:spcAft>
                <a:spcPts val="0"/>
              </a:spcAft>
            </a:pPr>
            <a:r>
              <a:rPr sz="1100" b="0">
                <a:solidFill>
                  <a:srgbClr val="52514E"/>
                </a:solidFill>
                <a:latin typeface="Segoe UI"/>
              </a:rPr>
              <a:t>Rebuild the evidence index and the resolution baselines.</a:t>
            </a:r>
          </a:p>
        </p:txBody>
      </p:sp>
      <p:sp>
        <p:nvSpPr>
          <p:cNvPr id="21" name="TextBox 20"/>
          <p:cNvSpPr txBox="1"/>
          <p:nvPr/>
        </p:nvSpPr>
        <p:spPr>
          <a:xfrm>
            <a:off x="713232" y="4364736"/>
            <a:ext cx="10765231" cy="731520"/>
          </a:xfrm>
          <a:prstGeom prst="rect">
            <a:avLst/>
          </a:prstGeom>
          <a:noFill/>
        </p:spPr>
        <p:txBody>
          <a:bodyPr wrap="square">
            <a:spAutoFit/>
          </a:bodyPr>
          <a:lstStyle/>
          <a:p>
            <a:pPr>
              <a:lnSpc>
                <a:spcPct val="118000"/>
              </a:lnSpc>
              <a:spcBef>
                <a:spcPts val="0"/>
              </a:spcBef>
              <a:spcAft>
                <a:spcPts val="0"/>
              </a:spcAft>
            </a:pPr>
            <a:r>
              <a:rPr sz="1300" b="0">
                <a:solidFill>
                  <a:srgbClr val="52514E"/>
                </a:solidFill>
                <a:latin typeface="Segoe UI"/>
              </a:rPr>
              <a:t>Every read from ServiceNow is a read. There is no write client in the codebase - it cannot resolve, reassign or comment on an incident even if someone asked it to.</a:t>
            </a:r>
          </a:p>
        </p:txBody>
      </p:sp>
      <p:sp>
        <p:nvSpPr>
          <p:cNvPr id="22" name="TextBox 21"/>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Team introduction</a:t>
            </a:r>
          </a:p>
        </p:txBody>
      </p:sp>
      <p:sp>
        <p:nvSpPr>
          <p:cNvPr id="23" name="TextBox 22"/>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274320"/>
          </a:xfrm>
          <a:prstGeom prst="rect">
            <a:avLst/>
          </a:prstGeom>
          <a:noFill/>
        </p:spPr>
        <p:txBody>
          <a:bodyPr wrap="square">
            <a:spAutoFit/>
          </a:bodyPr>
          <a:lstStyle/>
          <a:p>
            <a:pPr>
              <a:lnSpc>
                <a:spcPct val="118000"/>
              </a:lnSpc>
              <a:spcBef>
                <a:spcPts val="0"/>
              </a:spcBef>
              <a:spcAft>
                <a:spcPts val="0"/>
              </a:spcAft>
            </a:pPr>
            <a:r>
              <a:rPr sz="1050" b="1">
                <a:solidFill>
                  <a:srgbClr val="2A78D6"/>
                </a:solidFill>
                <a:latin typeface="Segoe UI"/>
              </a:rPr>
              <a:t>DETERMINISTIC SIGNALS</a:t>
            </a:r>
          </a:p>
        </p:txBody>
      </p:sp>
      <p:sp>
        <p:nvSpPr>
          <p:cNvPr id="4" name="TextBox 3"/>
          <p:cNvSpPr txBox="1"/>
          <p:nvPr/>
        </p:nvSpPr>
        <p:spPr>
          <a:xfrm>
            <a:off x="713232" y="786384"/>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What it measures</a:t>
            </a:r>
          </a:p>
        </p:txBody>
      </p:sp>
      <p:sp>
        <p:nvSpPr>
          <p:cNvPr id="5" name="Rectangle 4"/>
          <p:cNvSpPr/>
          <p:nvPr/>
        </p:nvSpPr>
        <p:spPr>
          <a:xfrm>
            <a:off x="713232" y="1444752"/>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755648"/>
            <a:ext cx="10765231" cy="359664"/>
          </a:xfrm>
          <a:prstGeom prst="rect">
            <a:avLst/>
          </a:prstGeom>
          <a:noFill/>
        </p:spPr>
        <p:txBody>
          <a:bodyPr wrap="square">
            <a:spAutoFit/>
          </a:bodyPr>
          <a:lstStyle/>
          <a:p>
            <a:pPr>
              <a:lnSpc>
                <a:spcPct val="118000"/>
              </a:lnSpc>
              <a:spcBef>
                <a:spcPts val="0"/>
              </a:spcBef>
              <a:spcAft>
                <a:spcPts val="0"/>
              </a:spcAft>
            </a:pPr>
            <a:r>
              <a:rPr sz="1400" b="0">
                <a:solidFill>
                  <a:srgbClr val="52514E"/>
                </a:solidFill>
                <a:latin typeface="Segoe UI"/>
              </a:rPr>
              <a:t>All of this is arithmetic over the ticket history. No model is involved, and every number can be explained.</a:t>
            </a:r>
          </a:p>
        </p:txBody>
      </p:sp>
      <p:sp>
        <p:nvSpPr>
          <p:cNvPr id="7" name="Rounded Rectangle 6"/>
          <p:cNvSpPr/>
          <p:nvPr/>
        </p:nvSpPr>
        <p:spPr>
          <a:xfrm>
            <a:off x="713232" y="2115312"/>
            <a:ext cx="3429914" cy="157276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13232" y="2115312"/>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2279904"/>
            <a:ext cx="3027578" cy="129844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Age and idle, separately</a:t>
            </a:r>
          </a:p>
          <a:p>
            <a:pPr>
              <a:lnSpc>
                <a:spcPct val="118000"/>
              </a:lnSpc>
              <a:spcBef>
                <a:spcPts val="600"/>
              </a:spcBef>
              <a:spcAft>
                <a:spcPts val="0"/>
              </a:spcAft>
            </a:pPr>
            <a:r>
              <a:rPr sz="1150" b="0">
                <a:solidFill>
                  <a:srgbClr val="52514E"/>
                </a:solidFill>
                <a:latin typeface="Segoe UI"/>
              </a:rPr>
              <a:t>Age is how old. Idle is how long since a person last did something real. The second is the one that matters.</a:t>
            </a:r>
          </a:p>
        </p:txBody>
      </p:sp>
      <p:sp>
        <p:nvSpPr>
          <p:cNvPr id="10" name="Rounded Rectangle 9"/>
          <p:cNvSpPr/>
          <p:nvPr/>
        </p:nvSpPr>
        <p:spPr>
          <a:xfrm>
            <a:off x="4380890" y="2115312"/>
            <a:ext cx="3429914" cy="157276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4380890" y="2115312"/>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582058" y="2279904"/>
            <a:ext cx="3027578" cy="129844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Who owes the next action</a:t>
            </a:r>
          </a:p>
          <a:p>
            <a:pPr>
              <a:lnSpc>
                <a:spcPct val="118000"/>
              </a:lnSpc>
              <a:spcBef>
                <a:spcPts val="600"/>
              </a:spcBef>
              <a:spcAft>
                <a:spcPts val="0"/>
              </a:spcAft>
            </a:pPr>
            <a:r>
              <a:rPr sz="1150" b="0">
                <a:solidFill>
                  <a:srgbClr val="52514E"/>
                </a:solidFill>
                <a:latin typeface="Segoe UI"/>
              </a:rPr>
              <a:t>Assigned team, Caller, Vendor, Change, Problem or Approval - derived, not taken from the hold reason at face value.</a:t>
            </a:r>
          </a:p>
        </p:txBody>
      </p:sp>
      <p:sp>
        <p:nvSpPr>
          <p:cNvPr id="13" name="Rounded Rectangle 12"/>
          <p:cNvSpPr/>
          <p:nvPr/>
        </p:nvSpPr>
        <p:spPr>
          <a:xfrm>
            <a:off x="8048548" y="2115312"/>
            <a:ext cx="3429914" cy="157276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8048548" y="2115312"/>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49716" y="2279904"/>
            <a:ext cx="3027578" cy="129844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Caller replied, unanswered</a:t>
            </a:r>
          </a:p>
          <a:p>
            <a:pPr>
              <a:lnSpc>
                <a:spcPct val="118000"/>
              </a:lnSpc>
              <a:spcBef>
                <a:spcPts val="600"/>
              </a:spcBef>
              <a:spcAft>
                <a:spcPts val="0"/>
              </a:spcAft>
            </a:pPr>
            <a:r>
              <a:rPr sz="1150" b="0">
                <a:solidFill>
                  <a:srgbClr val="52514E"/>
                </a:solidFill>
                <a:latin typeface="Segoe UI"/>
              </a:rPr>
              <a:t>The caller spoke last and nobody has responded since.</a:t>
            </a:r>
          </a:p>
        </p:txBody>
      </p:sp>
      <p:sp>
        <p:nvSpPr>
          <p:cNvPr id="16" name="Rounded Rectangle 15"/>
          <p:cNvSpPr/>
          <p:nvPr/>
        </p:nvSpPr>
        <p:spPr>
          <a:xfrm>
            <a:off x="713232" y="3925824"/>
            <a:ext cx="3429914" cy="157276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713232" y="3925824"/>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14400" y="4090416"/>
            <a:ext cx="3027578" cy="129844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Dependency already cleared</a:t>
            </a:r>
          </a:p>
          <a:p>
            <a:pPr>
              <a:lnSpc>
                <a:spcPct val="118000"/>
              </a:lnSpc>
              <a:spcBef>
                <a:spcPts val="600"/>
              </a:spcBef>
              <a:spcAft>
                <a:spcPts val="0"/>
              </a:spcAft>
            </a:pPr>
            <a:r>
              <a:rPr sz="1150" b="0">
                <a:solidFill>
                  <a:srgbClr val="52514E"/>
                </a:solidFill>
                <a:latin typeface="Segoe UI"/>
              </a:rPr>
              <a:t>Held for a change or problem that has since closed.</a:t>
            </a:r>
          </a:p>
        </p:txBody>
      </p:sp>
      <p:sp>
        <p:nvSpPr>
          <p:cNvPr id="19" name="Rounded Rectangle 18"/>
          <p:cNvSpPr/>
          <p:nvPr/>
        </p:nvSpPr>
        <p:spPr>
          <a:xfrm>
            <a:off x="4380890" y="3925824"/>
            <a:ext cx="3429914" cy="157276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4380890" y="3925824"/>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582058" y="4090416"/>
            <a:ext cx="3027578" cy="129844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SLA position</a:t>
            </a:r>
          </a:p>
          <a:p>
            <a:pPr>
              <a:lnSpc>
                <a:spcPct val="118000"/>
              </a:lnSpc>
              <a:spcBef>
                <a:spcPts val="600"/>
              </a:spcBef>
              <a:spcAft>
                <a:spcPts val="0"/>
              </a:spcAft>
            </a:pPr>
            <a:r>
              <a:rPr sz="1150" b="0">
                <a:solidFill>
                  <a:srgbClr val="52514E"/>
                </a:solidFill>
                <a:latin typeface="Segoe UI"/>
              </a:rPr>
              <a:t>Breached, percentage consumed, and when it is projected to breach if nothing changes.</a:t>
            </a:r>
          </a:p>
        </p:txBody>
      </p:sp>
      <p:sp>
        <p:nvSpPr>
          <p:cNvPr id="22" name="Rounded Rectangle 21"/>
          <p:cNvSpPr/>
          <p:nvPr/>
        </p:nvSpPr>
        <p:spPr>
          <a:xfrm>
            <a:off x="8048548" y="3925824"/>
            <a:ext cx="3429914" cy="157276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8048548" y="3925824"/>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249716" y="4090416"/>
            <a:ext cx="3027578" cy="129844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Knowledge gap</a:t>
            </a:r>
          </a:p>
          <a:p>
            <a:pPr>
              <a:lnSpc>
                <a:spcPct val="118000"/>
              </a:lnSpc>
              <a:spcBef>
                <a:spcPts val="600"/>
              </a:spcBef>
              <a:spcAft>
                <a:spcPts val="0"/>
              </a:spcAft>
            </a:pPr>
            <a:r>
              <a:rPr sz="1150" b="0">
                <a:solidFill>
                  <a:srgbClr val="52514E"/>
                </a:solidFill>
                <a:latin typeface="Segoe UI"/>
              </a:rPr>
              <a:t>A matching article exists and is not attached to the ticket.</a:t>
            </a:r>
          </a:p>
        </p:txBody>
      </p:sp>
      <p:sp>
        <p:nvSpPr>
          <p:cNvPr id="25" name="TextBox 24"/>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Team introduction</a:t>
            </a:r>
          </a:p>
        </p:txBody>
      </p:sp>
      <p:sp>
        <p:nvSpPr>
          <p:cNvPr id="26" name="TextBox 25"/>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274320"/>
          </a:xfrm>
          <a:prstGeom prst="rect">
            <a:avLst/>
          </a:prstGeom>
          <a:noFill/>
        </p:spPr>
        <p:txBody>
          <a:bodyPr wrap="square">
            <a:spAutoFit/>
          </a:bodyPr>
          <a:lstStyle/>
          <a:p>
            <a:pPr>
              <a:lnSpc>
                <a:spcPct val="118000"/>
              </a:lnSpc>
              <a:spcBef>
                <a:spcPts val="0"/>
              </a:spcBef>
              <a:spcAft>
                <a:spcPts val="0"/>
              </a:spcAft>
            </a:pPr>
            <a:r>
              <a:rPr sz="1050" b="1">
                <a:solidFill>
                  <a:srgbClr val="2A78D6"/>
                </a:solidFill>
                <a:latin typeface="Segoe UI"/>
              </a:rPr>
              <a:t>ATTENTION SCORE</a:t>
            </a:r>
          </a:p>
        </p:txBody>
      </p:sp>
      <p:sp>
        <p:nvSpPr>
          <p:cNvPr id="4" name="TextBox 3"/>
          <p:cNvSpPr txBox="1"/>
          <p:nvPr/>
        </p:nvSpPr>
        <p:spPr>
          <a:xfrm>
            <a:off x="713232" y="786384"/>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How the ranking works</a:t>
            </a:r>
          </a:p>
        </p:txBody>
      </p:sp>
      <p:sp>
        <p:nvSpPr>
          <p:cNvPr id="5" name="Rectangle 4"/>
          <p:cNvSpPr/>
          <p:nvPr/>
        </p:nvSpPr>
        <p:spPr>
          <a:xfrm>
            <a:off x="713232" y="1444752"/>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755648"/>
            <a:ext cx="10765231" cy="359664"/>
          </a:xfrm>
          <a:prstGeom prst="rect">
            <a:avLst/>
          </a:prstGeom>
          <a:noFill/>
        </p:spPr>
        <p:txBody>
          <a:bodyPr wrap="square">
            <a:spAutoFit/>
          </a:bodyPr>
          <a:lstStyle/>
          <a:p>
            <a:pPr>
              <a:lnSpc>
                <a:spcPct val="118000"/>
              </a:lnSpc>
              <a:spcBef>
                <a:spcPts val="0"/>
              </a:spcBef>
              <a:spcAft>
                <a:spcPts val="0"/>
              </a:spcAft>
            </a:pPr>
            <a:r>
              <a:rPr sz="1400" b="0">
                <a:solidFill>
                  <a:srgbClr val="52514E"/>
                </a:solidFill>
                <a:latin typeface="Segoe UI"/>
              </a:rPr>
              <a:t>Seven components, each scored 0-100, combined by weights that sum to 100.</a:t>
            </a:r>
          </a:p>
        </p:txBody>
      </p:sp>
      <p:sp>
        <p:nvSpPr>
          <p:cNvPr id="7" name="TextBox 6"/>
          <p:cNvSpPr txBox="1"/>
          <p:nvPr/>
        </p:nvSpPr>
        <p:spPr>
          <a:xfrm>
            <a:off x="713232" y="2115312"/>
            <a:ext cx="2286000" cy="475488"/>
          </a:xfrm>
          <a:prstGeom prst="rect">
            <a:avLst/>
          </a:prstGeom>
          <a:noFill/>
        </p:spPr>
        <p:txBody>
          <a:bodyPr wrap="square">
            <a:spAutoFit/>
          </a:bodyPr>
          <a:lstStyle/>
          <a:p>
            <a:pPr>
              <a:lnSpc>
                <a:spcPct val="118000"/>
              </a:lnSpc>
              <a:spcBef>
                <a:spcPts val="0"/>
              </a:spcBef>
              <a:spcAft>
                <a:spcPts val="0"/>
              </a:spcAft>
            </a:pPr>
            <a:r>
              <a:rPr sz="1300" b="1">
                <a:solidFill>
                  <a:srgbClr val="0B0B0B"/>
                </a:solidFill>
                <a:latin typeface="Segoe UI"/>
              </a:rPr>
              <a:t>SLA risk</a:t>
            </a:r>
          </a:p>
        </p:txBody>
      </p:sp>
      <p:sp>
        <p:nvSpPr>
          <p:cNvPr id="8" name="Rectangle 7"/>
          <p:cNvSpPr/>
          <p:nvPr/>
        </p:nvSpPr>
        <p:spPr>
          <a:xfrm>
            <a:off x="3044952" y="2206752"/>
            <a:ext cx="2834640" cy="155448"/>
          </a:xfrm>
          <a:prstGeom prst="rect">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3044952" y="2206752"/>
            <a:ext cx="2834640" cy="1554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007608" y="2115312"/>
            <a:ext cx="548640" cy="475488"/>
          </a:xfrm>
          <a:prstGeom prst="rect">
            <a:avLst/>
          </a:prstGeom>
          <a:noFill/>
        </p:spPr>
        <p:txBody>
          <a:bodyPr wrap="square">
            <a:spAutoFit/>
          </a:bodyPr>
          <a:lstStyle/>
          <a:p>
            <a:pPr>
              <a:lnSpc>
                <a:spcPct val="118000"/>
              </a:lnSpc>
              <a:spcBef>
                <a:spcPts val="0"/>
              </a:spcBef>
              <a:spcAft>
                <a:spcPts val="0"/>
              </a:spcAft>
            </a:pPr>
            <a:r>
              <a:rPr sz="1300" b="1">
                <a:solidFill>
                  <a:srgbClr val="2A78D6"/>
                </a:solidFill>
                <a:latin typeface="Segoe UI"/>
              </a:rPr>
              <a:t>25</a:t>
            </a:r>
          </a:p>
        </p:txBody>
      </p:sp>
      <p:sp>
        <p:nvSpPr>
          <p:cNvPr id="11" name="TextBox 10"/>
          <p:cNvSpPr txBox="1"/>
          <p:nvPr/>
        </p:nvSpPr>
        <p:spPr>
          <a:xfrm>
            <a:off x="6592824" y="2115312"/>
            <a:ext cx="4885639" cy="475488"/>
          </a:xfrm>
          <a:prstGeom prst="rect">
            <a:avLst/>
          </a:prstGeom>
          <a:noFill/>
        </p:spPr>
        <p:txBody>
          <a:bodyPr wrap="square">
            <a:spAutoFit/>
          </a:bodyPr>
          <a:lstStyle/>
          <a:p>
            <a:pPr>
              <a:lnSpc>
                <a:spcPct val="118000"/>
              </a:lnSpc>
              <a:spcBef>
                <a:spcPts val="0"/>
              </a:spcBef>
              <a:spcAft>
                <a:spcPts val="0"/>
              </a:spcAft>
            </a:pPr>
            <a:r>
              <a:rPr sz="1150" b="0">
                <a:solidFill>
                  <a:srgbClr val="52514E"/>
                </a:solidFill>
                <a:latin typeface="Segoe UI"/>
              </a:rPr>
              <a:t>How close the resolution SLA is to breaching</a:t>
            </a:r>
          </a:p>
        </p:txBody>
      </p:sp>
      <p:sp>
        <p:nvSpPr>
          <p:cNvPr id="12" name="TextBox 11"/>
          <p:cNvSpPr txBox="1"/>
          <p:nvPr/>
        </p:nvSpPr>
        <p:spPr>
          <a:xfrm>
            <a:off x="713232" y="2590800"/>
            <a:ext cx="2286000" cy="475488"/>
          </a:xfrm>
          <a:prstGeom prst="rect">
            <a:avLst/>
          </a:prstGeom>
          <a:noFill/>
        </p:spPr>
        <p:txBody>
          <a:bodyPr wrap="square">
            <a:spAutoFit/>
          </a:bodyPr>
          <a:lstStyle/>
          <a:p>
            <a:pPr>
              <a:lnSpc>
                <a:spcPct val="118000"/>
              </a:lnSpc>
              <a:spcBef>
                <a:spcPts val="0"/>
              </a:spcBef>
              <a:spcAft>
                <a:spcPts val="0"/>
              </a:spcAft>
            </a:pPr>
            <a:r>
              <a:rPr sz="1300" b="1">
                <a:solidFill>
                  <a:srgbClr val="0B0B0B"/>
                </a:solidFill>
                <a:latin typeface="Segoe UI"/>
              </a:rPr>
              <a:t>Inactivity duration</a:t>
            </a:r>
          </a:p>
        </p:txBody>
      </p:sp>
      <p:sp>
        <p:nvSpPr>
          <p:cNvPr id="13" name="Rectangle 12"/>
          <p:cNvSpPr/>
          <p:nvPr/>
        </p:nvSpPr>
        <p:spPr>
          <a:xfrm>
            <a:off x="3044952" y="2682240"/>
            <a:ext cx="2834640" cy="155448"/>
          </a:xfrm>
          <a:prstGeom prst="rect">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3044952" y="2682240"/>
            <a:ext cx="2834640" cy="1554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007608" y="2590800"/>
            <a:ext cx="548640" cy="475488"/>
          </a:xfrm>
          <a:prstGeom prst="rect">
            <a:avLst/>
          </a:prstGeom>
          <a:noFill/>
        </p:spPr>
        <p:txBody>
          <a:bodyPr wrap="square">
            <a:spAutoFit/>
          </a:bodyPr>
          <a:lstStyle/>
          <a:p>
            <a:pPr>
              <a:lnSpc>
                <a:spcPct val="118000"/>
              </a:lnSpc>
              <a:spcBef>
                <a:spcPts val="0"/>
              </a:spcBef>
              <a:spcAft>
                <a:spcPts val="0"/>
              </a:spcAft>
            </a:pPr>
            <a:r>
              <a:rPr sz="1300" b="1">
                <a:solidFill>
                  <a:srgbClr val="2A78D6"/>
                </a:solidFill>
                <a:latin typeface="Segoe UI"/>
              </a:rPr>
              <a:t>25</a:t>
            </a:r>
          </a:p>
        </p:txBody>
      </p:sp>
      <p:sp>
        <p:nvSpPr>
          <p:cNvPr id="16" name="TextBox 15"/>
          <p:cNvSpPr txBox="1"/>
          <p:nvPr/>
        </p:nvSpPr>
        <p:spPr>
          <a:xfrm>
            <a:off x="6592824" y="2590800"/>
            <a:ext cx="4885639" cy="475488"/>
          </a:xfrm>
          <a:prstGeom prst="rect">
            <a:avLst/>
          </a:prstGeom>
          <a:noFill/>
        </p:spPr>
        <p:txBody>
          <a:bodyPr wrap="square">
            <a:spAutoFit/>
          </a:bodyPr>
          <a:lstStyle/>
          <a:p>
            <a:pPr>
              <a:lnSpc>
                <a:spcPct val="118000"/>
              </a:lnSpc>
              <a:spcBef>
                <a:spcPts val="0"/>
              </a:spcBef>
              <a:spcAft>
                <a:spcPts val="0"/>
              </a:spcAft>
            </a:pPr>
            <a:r>
              <a:rPr sz="1150" b="0">
                <a:solidFill>
                  <a:srgbClr val="52514E"/>
                </a:solidFill>
                <a:latin typeface="Segoe UI"/>
              </a:rPr>
              <a:t>Time since the last real action by the assigned team</a:t>
            </a:r>
          </a:p>
        </p:txBody>
      </p:sp>
      <p:sp>
        <p:nvSpPr>
          <p:cNvPr id="17" name="TextBox 16"/>
          <p:cNvSpPr txBox="1"/>
          <p:nvPr/>
        </p:nvSpPr>
        <p:spPr>
          <a:xfrm>
            <a:off x="713232" y="3066288"/>
            <a:ext cx="2286000" cy="475488"/>
          </a:xfrm>
          <a:prstGeom prst="rect">
            <a:avLst/>
          </a:prstGeom>
          <a:noFill/>
        </p:spPr>
        <p:txBody>
          <a:bodyPr wrap="square">
            <a:spAutoFit/>
          </a:bodyPr>
          <a:lstStyle/>
          <a:p>
            <a:pPr>
              <a:lnSpc>
                <a:spcPct val="118000"/>
              </a:lnSpc>
              <a:spcBef>
                <a:spcPts val="0"/>
              </a:spcBef>
              <a:spcAft>
                <a:spcPts val="0"/>
              </a:spcAft>
            </a:pPr>
            <a:r>
              <a:rPr sz="1300" b="1">
                <a:solidFill>
                  <a:srgbClr val="0B0B0B"/>
                </a:solidFill>
                <a:latin typeface="Segoe UI"/>
              </a:rPr>
              <a:t>Unactioned delay</a:t>
            </a:r>
          </a:p>
        </p:txBody>
      </p:sp>
      <p:sp>
        <p:nvSpPr>
          <p:cNvPr id="18" name="Rectangle 17"/>
          <p:cNvSpPr/>
          <p:nvPr/>
        </p:nvSpPr>
        <p:spPr>
          <a:xfrm>
            <a:off x="3044952" y="3157728"/>
            <a:ext cx="2834640" cy="155448"/>
          </a:xfrm>
          <a:prstGeom prst="rect">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3044952" y="3157728"/>
            <a:ext cx="1700784" cy="1554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007608" y="3066288"/>
            <a:ext cx="548640" cy="475488"/>
          </a:xfrm>
          <a:prstGeom prst="rect">
            <a:avLst/>
          </a:prstGeom>
          <a:noFill/>
        </p:spPr>
        <p:txBody>
          <a:bodyPr wrap="square">
            <a:spAutoFit/>
          </a:bodyPr>
          <a:lstStyle/>
          <a:p>
            <a:pPr>
              <a:lnSpc>
                <a:spcPct val="118000"/>
              </a:lnSpc>
              <a:spcBef>
                <a:spcPts val="0"/>
              </a:spcBef>
              <a:spcAft>
                <a:spcPts val="0"/>
              </a:spcAft>
            </a:pPr>
            <a:r>
              <a:rPr sz="1300" b="1">
                <a:solidFill>
                  <a:srgbClr val="2A78D6"/>
                </a:solidFill>
                <a:latin typeface="Segoe UI"/>
              </a:rPr>
              <a:t>15</a:t>
            </a:r>
          </a:p>
        </p:txBody>
      </p:sp>
      <p:sp>
        <p:nvSpPr>
          <p:cNvPr id="21" name="TextBox 20"/>
          <p:cNvSpPr txBox="1"/>
          <p:nvPr/>
        </p:nvSpPr>
        <p:spPr>
          <a:xfrm>
            <a:off x="6592824" y="3066288"/>
            <a:ext cx="4885639" cy="475488"/>
          </a:xfrm>
          <a:prstGeom prst="rect">
            <a:avLst/>
          </a:prstGeom>
          <a:noFill/>
        </p:spPr>
        <p:txBody>
          <a:bodyPr wrap="square">
            <a:spAutoFit/>
          </a:bodyPr>
          <a:lstStyle/>
          <a:p>
            <a:pPr>
              <a:lnSpc>
                <a:spcPct val="118000"/>
              </a:lnSpc>
              <a:spcBef>
                <a:spcPts val="0"/>
              </a:spcBef>
              <a:spcAft>
                <a:spcPts val="0"/>
              </a:spcAft>
            </a:pPr>
            <a:r>
              <a:rPr sz="1150" b="0">
                <a:solidFill>
                  <a:srgbClr val="52514E"/>
                </a:solidFill>
                <a:latin typeface="Segoe UI"/>
              </a:rPr>
              <a:t>Caller replied and nobody answered; dependency already closed</a:t>
            </a:r>
          </a:p>
        </p:txBody>
      </p:sp>
      <p:sp>
        <p:nvSpPr>
          <p:cNvPr id="22" name="TextBox 21"/>
          <p:cNvSpPr txBox="1"/>
          <p:nvPr/>
        </p:nvSpPr>
        <p:spPr>
          <a:xfrm>
            <a:off x="713232" y="3541776"/>
            <a:ext cx="2286000" cy="475488"/>
          </a:xfrm>
          <a:prstGeom prst="rect">
            <a:avLst/>
          </a:prstGeom>
          <a:noFill/>
        </p:spPr>
        <p:txBody>
          <a:bodyPr wrap="square">
            <a:spAutoFit/>
          </a:bodyPr>
          <a:lstStyle/>
          <a:p>
            <a:pPr>
              <a:lnSpc>
                <a:spcPct val="118000"/>
              </a:lnSpc>
              <a:spcBef>
                <a:spcPts val="0"/>
              </a:spcBef>
              <a:spcAft>
                <a:spcPts val="0"/>
              </a:spcAft>
            </a:pPr>
            <a:r>
              <a:rPr sz="1300" b="1">
                <a:solidFill>
                  <a:srgbClr val="0B0B0B"/>
                </a:solidFill>
                <a:latin typeface="Segoe UI"/>
              </a:rPr>
              <a:t>Ticket age</a:t>
            </a:r>
          </a:p>
        </p:txBody>
      </p:sp>
      <p:sp>
        <p:nvSpPr>
          <p:cNvPr id="23" name="Rectangle 22"/>
          <p:cNvSpPr/>
          <p:nvPr/>
        </p:nvSpPr>
        <p:spPr>
          <a:xfrm>
            <a:off x="3044952" y="3633216"/>
            <a:ext cx="2834640" cy="155448"/>
          </a:xfrm>
          <a:prstGeom prst="rect">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3044952" y="3633216"/>
            <a:ext cx="1133856" cy="1554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007608" y="3541776"/>
            <a:ext cx="548640" cy="475488"/>
          </a:xfrm>
          <a:prstGeom prst="rect">
            <a:avLst/>
          </a:prstGeom>
          <a:noFill/>
        </p:spPr>
        <p:txBody>
          <a:bodyPr wrap="square">
            <a:spAutoFit/>
          </a:bodyPr>
          <a:lstStyle/>
          <a:p>
            <a:pPr>
              <a:lnSpc>
                <a:spcPct val="118000"/>
              </a:lnSpc>
              <a:spcBef>
                <a:spcPts val="0"/>
              </a:spcBef>
              <a:spcAft>
                <a:spcPts val="0"/>
              </a:spcAft>
            </a:pPr>
            <a:r>
              <a:rPr sz="1300" b="1">
                <a:solidFill>
                  <a:srgbClr val="2A78D6"/>
                </a:solidFill>
                <a:latin typeface="Segoe UI"/>
              </a:rPr>
              <a:t>10</a:t>
            </a:r>
          </a:p>
        </p:txBody>
      </p:sp>
      <p:sp>
        <p:nvSpPr>
          <p:cNvPr id="26" name="TextBox 25"/>
          <p:cNvSpPr txBox="1"/>
          <p:nvPr/>
        </p:nvSpPr>
        <p:spPr>
          <a:xfrm>
            <a:off x="6592824" y="3541776"/>
            <a:ext cx="4885639" cy="475488"/>
          </a:xfrm>
          <a:prstGeom prst="rect">
            <a:avLst/>
          </a:prstGeom>
          <a:noFill/>
        </p:spPr>
        <p:txBody>
          <a:bodyPr wrap="square">
            <a:spAutoFit/>
          </a:bodyPr>
          <a:lstStyle/>
          <a:p>
            <a:pPr>
              <a:lnSpc>
                <a:spcPct val="118000"/>
              </a:lnSpc>
              <a:spcBef>
                <a:spcPts val="0"/>
              </a:spcBef>
              <a:spcAft>
                <a:spcPts val="0"/>
              </a:spcAft>
            </a:pPr>
            <a:r>
              <a:rPr sz="1150" b="0">
                <a:solidFill>
                  <a:srgbClr val="52514E"/>
                </a:solidFill>
                <a:latin typeface="Segoe UI"/>
              </a:rPr>
              <a:t>How far past the aged threshold the incident is</a:t>
            </a:r>
          </a:p>
        </p:txBody>
      </p:sp>
      <p:sp>
        <p:nvSpPr>
          <p:cNvPr id="27" name="TextBox 26"/>
          <p:cNvSpPr txBox="1"/>
          <p:nvPr/>
        </p:nvSpPr>
        <p:spPr>
          <a:xfrm>
            <a:off x="713232" y="4017264"/>
            <a:ext cx="2286000" cy="475488"/>
          </a:xfrm>
          <a:prstGeom prst="rect">
            <a:avLst/>
          </a:prstGeom>
          <a:noFill/>
        </p:spPr>
        <p:txBody>
          <a:bodyPr wrap="square">
            <a:spAutoFit/>
          </a:bodyPr>
          <a:lstStyle/>
          <a:p>
            <a:pPr>
              <a:lnSpc>
                <a:spcPct val="118000"/>
              </a:lnSpc>
              <a:spcBef>
                <a:spcPts val="0"/>
              </a:spcBef>
              <a:spcAft>
                <a:spcPts val="0"/>
              </a:spcAft>
            </a:pPr>
            <a:r>
              <a:rPr sz="1300" b="1">
                <a:solidFill>
                  <a:srgbClr val="0B0B0B"/>
                </a:solidFill>
                <a:latin typeface="Segoe UI"/>
              </a:rPr>
              <a:t>Business priority</a:t>
            </a:r>
          </a:p>
        </p:txBody>
      </p:sp>
      <p:sp>
        <p:nvSpPr>
          <p:cNvPr id="28" name="Rectangle 27"/>
          <p:cNvSpPr/>
          <p:nvPr/>
        </p:nvSpPr>
        <p:spPr>
          <a:xfrm>
            <a:off x="3044952" y="4108704"/>
            <a:ext cx="2834640" cy="155448"/>
          </a:xfrm>
          <a:prstGeom prst="rect">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044952" y="4108704"/>
            <a:ext cx="1133856" cy="1554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007608" y="4017264"/>
            <a:ext cx="548640" cy="475488"/>
          </a:xfrm>
          <a:prstGeom prst="rect">
            <a:avLst/>
          </a:prstGeom>
          <a:noFill/>
        </p:spPr>
        <p:txBody>
          <a:bodyPr wrap="square">
            <a:spAutoFit/>
          </a:bodyPr>
          <a:lstStyle/>
          <a:p>
            <a:pPr>
              <a:lnSpc>
                <a:spcPct val="118000"/>
              </a:lnSpc>
              <a:spcBef>
                <a:spcPts val="0"/>
              </a:spcBef>
              <a:spcAft>
                <a:spcPts val="0"/>
              </a:spcAft>
            </a:pPr>
            <a:r>
              <a:rPr sz="1300" b="1">
                <a:solidFill>
                  <a:srgbClr val="2A78D6"/>
                </a:solidFill>
                <a:latin typeface="Segoe UI"/>
              </a:rPr>
              <a:t>10</a:t>
            </a:r>
          </a:p>
        </p:txBody>
      </p:sp>
      <p:sp>
        <p:nvSpPr>
          <p:cNvPr id="31" name="TextBox 30"/>
          <p:cNvSpPr txBox="1"/>
          <p:nvPr/>
        </p:nvSpPr>
        <p:spPr>
          <a:xfrm>
            <a:off x="6592824" y="4017264"/>
            <a:ext cx="4885639" cy="475488"/>
          </a:xfrm>
          <a:prstGeom prst="rect">
            <a:avLst/>
          </a:prstGeom>
          <a:noFill/>
        </p:spPr>
        <p:txBody>
          <a:bodyPr wrap="square">
            <a:spAutoFit/>
          </a:bodyPr>
          <a:lstStyle/>
          <a:p>
            <a:pPr>
              <a:lnSpc>
                <a:spcPct val="118000"/>
              </a:lnSpc>
              <a:spcBef>
                <a:spcPts val="0"/>
              </a:spcBef>
              <a:spcAft>
                <a:spcPts val="0"/>
              </a:spcAft>
            </a:pPr>
            <a:r>
              <a:rPr sz="1150" b="0">
                <a:solidFill>
                  <a:srgbClr val="52514E"/>
                </a:solidFill>
                <a:latin typeface="Segoe UI"/>
              </a:rPr>
              <a:t>Priority and impact of the incident</a:t>
            </a:r>
          </a:p>
        </p:txBody>
      </p:sp>
      <p:sp>
        <p:nvSpPr>
          <p:cNvPr id="32" name="TextBox 31"/>
          <p:cNvSpPr txBox="1"/>
          <p:nvPr/>
        </p:nvSpPr>
        <p:spPr>
          <a:xfrm>
            <a:off x="713232" y="4492752"/>
            <a:ext cx="2286000" cy="475488"/>
          </a:xfrm>
          <a:prstGeom prst="rect">
            <a:avLst/>
          </a:prstGeom>
          <a:noFill/>
        </p:spPr>
        <p:txBody>
          <a:bodyPr wrap="square">
            <a:spAutoFit/>
          </a:bodyPr>
          <a:lstStyle/>
          <a:p>
            <a:pPr>
              <a:lnSpc>
                <a:spcPct val="118000"/>
              </a:lnSpc>
              <a:spcBef>
                <a:spcPts val="0"/>
              </a:spcBef>
              <a:spcAft>
                <a:spcPts val="0"/>
              </a:spcAft>
            </a:pPr>
            <a:r>
              <a:rPr sz="1300" b="1">
                <a:solidFill>
                  <a:srgbClr val="0B0B0B"/>
                </a:solidFill>
                <a:latin typeface="Segoe UI"/>
              </a:rPr>
              <a:t>Duration overrun</a:t>
            </a:r>
          </a:p>
        </p:txBody>
      </p:sp>
      <p:sp>
        <p:nvSpPr>
          <p:cNvPr id="33" name="Rectangle 32"/>
          <p:cNvSpPr/>
          <p:nvPr/>
        </p:nvSpPr>
        <p:spPr>
          <a:xfrm>
            <a:off x="3044952" y="4584192"/>
            <a:ext cx="2834640" cy="155448"/>
          </a:xfrm>
          <a:prstGeom prst="rect">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044952" y="4584192"/>
            <a:ext cx="1133856" cy="1554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007608" y="4492752"/>
            <a:ext cx="548640" cy="475488"/>
          </a:xfrm>
          <a:prstGeom prst="rect">
            <a:avLst/>
          </a:prstGeom>
          <a:noFill/>
        </p:spPr>
        <p:txBody>
          <a:bodyPr wrap="square">
            <a:spAutoFit/>
          </a:bodyPr>
          <a:lstStyle/>
          <a:p>
            <a:pPr>
              <a:lnSpc>
                <a:spcPct val="118000"/>
              </a:lnSpc>
              <a:spcBef>
                <a:spcPts val="0"/>
              </a:spcBef>
              <a:spcAft>
                <a:spcPts val="0"/>
              </a:spcAft>
            </a:pPr>
            <a:r>
              <a:rPr sz="1300" b="1">
                <a:solidFill>
                  <a:srgbClr val="2A78D6"/>
                </a:solidFill>
                <a:latin typeface="Segoe UI"/>
              </a:rPr>
              <a:t>10</a:t>
            </a:r>
          </a:p>
        </p:txBody>
      </p:sp>
      <p:sp>
        <p:nvSpPr>
          <p:cNvPr id="36" name="TextBox 35"/>
          <p:cNvSpPr txBox="1"/>
          <p:nvPr/>
        </p:nvSpPr>
        <p:spPr>
          <a:xfrm>
            <a:off x="6592824" y="4492752"/>
            <a:ext cx="4885639" cy="475488"/>
          </a:xfrm>
          <a:prstGeom prst="rect">
            <a:avLst/>
          </a:prstGeom>
          <a:noFill/>
        </p:spPr>
        <p:txBody>
          <a:bodyPr wrap="square">
            <a:spAutoFit/>
          </a:bodyPr>
          <a:lstStyle/>
          <a:p>
            <a:pPr>
              <a:lnSpc>
                <a:spcPct val="118000"/>
              </a:lnSpc>
              <a:spcBef>
                <a:spcPts val="0"/>
              </a:spcBef>
              <a:spcAft>
                <a:spcPts val="0"/>
              </a:spcAft>
            </a:pPr>
            <a:r>
              <a:rPr sz="1150" b="0">
                <a:solidFill>
                  <a:srgbClr val="52514E"/>
                </a:solidFill>
                <a:latin typeface="Segoe UI"/>
              </a:rPr>
              <a:t>Past the 90th percentile for comparable incidents</a:t>
            </a:r>
          </a:p>
        </p:txBody>
      </p:sp>
      <p:sp>
        <p:nvSpPr>
          <p:cNvPr id="37" name="TextBox 36"/>
          <p:cNvSpPr txBox="1"/>
          <p:nvPr/>
        </p:nvSpPr>
        <p:spPr>
          <a:xfrm>
            <a:off x="713232" y="4968240"/>
            <a:ext cx="2286000" cy="475488"/>
          </a:xfrm>
          <a:prstGeom prst="rect">
            <a:avLst/>
          </a:prstGeom>
          <a:noFill/>
        </p:spPr>
        <p:txBody>
          <a:bodyPr wrap="square">
            <a:spAutoFit/>
          </a:bodyPr>
          <a:lstStyle/>
          <a:p>
            <a:pPr>
              <a:lnSpc>
                <a:spcPct val="118000"/>
              </a:lnSpc>
              <a:spcBef>
                <a:spcPts val="0"/>
              </a:spcBef>
              <a:spcAft>
                <a:spcPts val="0"/>
              </a:spcAft>
            </a:pPr>
            <a:r>
              <a:rPr sz="1300" b="1">
                <a:solidFill>
                  <a:srgbClr val="0B0B0B"/>
                </a:solidFill>
                <a:latin typeface="Segoe UI"/>
              </a:rPr>
              <a:t>Reassignment activity</a:t>
            </a:r>
          </a:p>
        </p:txBody>
      </p:sp>
      <p:sp>
        <p:nvSpPr>
          <p:cNvPr id="38" name="Rectangle 37"/>
          <p:cNvSpPr/>
          <p:nvPr/>
        </p:nvSpPr>
        <p:spPr>
          <a:xfrm>
            <a:off x="3044952" y="5059680"/>
            <a:ext cx="2834640" cy="155448"/>
          </a:xfrm>
          <a:prstGeom prst="rect">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3044952" y="5059680"/>
            <a:ext cx="566928" cy="1554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007608" y="4968240"/>
            <a:ext cx="548640" cy="475488"/>
          </a:xfrm>
          <a:prstGeom prst="rect">
            <a:avLst/>
          </a:prstGeom>
          <a:noFill/>
        </p:spPr>
        <p:txBody>
          <a:bodyPr wrap="square">
            <a:spAutoFit/>
          </a:bodyPr>
          <a:lstStyle/>
          <a:p>
            <a:pPr>
              <a:lnSpc>
                <a:spcPct val="118000"/>
              </a:lnSpc>
              <a:spcBef>
                <a:spcPts val="0"/>
              </a:spcBef>
              <a:spcAft>
                <a:spcPts val="0"/>
              </a:spcAft>
            </a:pPr>
            <a:r>
              <a:rPr sz="1300" b="1">
                <a:solidFill>
                  <a:srgbClr val="2A78D6"/>
                </a:solidFill>
                <a:latin typeface="Segoe UI"/>
              </a:rPr>
              <a:t>5</a:t>
            </a:r>
          </a:p>
        </p:txBody>
      </p:sp>
      <p:sp>
        <p:nvSpPr>
          <p:cNvPr id="41" name="TextBox 40"/>
          <p:cNvSpPr txBox="1"/>
          <p:nvPr/>
        </p:nvSpPr>
        <p:spPr>
          <a:xfrm>
            <a:off x="6592824" y="4968240"/>
            <a:ext cx="4885639" cy="475488"/>
          </a:xfrm>
          <a:prstGeom prst="rect">
            <a:avLst/>
          </a:prstGeom>
          <a:noFill/>
        </p:spPr>
        <p:txBody>
          <a:bodyPr wrap="square">
            <a:spAutoFit/>
          </a:bodyPr>
          <a:lstStyle/>
          <a:p>
            <a:pPr>
              <a:lnSpc>
                <a:spcPct val="118000"/>
              </a:lnSpc>
              <a:spcBef>
                <a:spcPts val="0"/>
              </a:spcBef>
              <a:spcAft>
                <a:spcPts val="0"/>
              </a:spcAft>
            </a:pPr>
            <a:r>
              <a:rPr sz="1150" b="0">
                <a:solidFill>
                  <a:srgbClr val="52514E"/>
                </a:solidFill>
                <a:latin typeface="Segoe UI"/>
              </a:rPr>
              <a:t>How often it has been passed around or reopened</a:t>
            </a:r>
          </a:p>
        </p:txBody>
      </p:sp>
      <p:sp>
        <p:nvSpPr>
          <p:cNvPr id="42" name="Rectangle 41"/>
          <p:cNvSpPr/>
          <p:nvPr/>
        </p:nvSpPr>
        <p:spPr>
          <a:xfrm>
            <a:off x="713232" y="5535168"/>
            <a:ext cx="10765231" cy="12700"/>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713232" y="5608320"/>
            <a:ext cx="10765231" cy="365760"/>
          </a:xfrm>
          <a:prstGeom prst="rect">
            <a:avLst/>
          </a:prstGeom>
          <a:noFill/>
        </p:spPr>
        <p:txBody>
          <a:bodyPr wrap="square">
            <a:spAutoFit/>
          </a:bodyPr>
          <a:lstStyle/>
          <a:p>
            <a:pPr>
              <a:lnSpc>
                <a:spcPct val="118000"/>
              </a:lnSpc>
              <a:spcBef>
                <a:spcPts val="0"/>
              </a:spcBef>
              <a:spcAft>
                <a:spcPts val="0"/>
              </a:spcAft>
            </a:pPr>
            <a:r>
              <a:rPr sz="1200" b="1">
                <a:solidFill>
                  <a:srgbClr val="0B0B0B"/>
                </a:solidFill>
                <a:latin typeface="Segoe UI"/>
              </a:rPr>
              <a:t>Total  100   ·   must sum to 100, or the service reverts to these defaults and logs it</a:t>
            </a:r>
          </a:p>
        </p:txBody>
      </p:sp>
      <p:sp>
        <p:nvSpPr>
          <p:cNvPr id="44" name="TextBox 43"/>
          <p:cNvSpPr txBox="1"/>
          <p:nvPr/>
        </p:nvSpPr>
        <p:spPr>
          <a:xfrm>
            <a:off x="713232" y="6010656"/>
            <a:ext cx="10765231" cy="640080"/>
          </a:xfrm>
          <a:prstGeom prst="rect">
            <a:avLst/>
          </a:prstGeom>
          <a:noFill/>
        </p:spPr>
        <p:txBody>
          <a:bodyPr wrap="square">
            <a:spAutoFit/>
          </a:bodyPr>
          <a:lstStyle/>
          <a:p>
            <a:pPr>
              <a:lnSpc>
                <a:spcPct val="118000"/>
              </a:lnSpc>
              <a:spcBef>
                <a:spcPts val="0"/>
              </a:spcBef>
              <a:spcAft>
                <a:spcPts val="0"/>
              </a:spcAft>
            </a:pPr>
            <a:r>
              <a:rPr sz="1250" b="0">
                <a:solidFill>
                  <a:srgbClr val="52514E"/>
                </a:solidFill>
                <a:latin typeface="Segoe UI"/>
              </a:rPr>
              <a:t>Leads can retune these in the web UI. The ticket page shows the breakdown for every incident - "Why it ranks here".</a:t>
            </a:r>
          </a:p>
        </p:txBody>
      </p:sp>
      <p:sp>
        <p:nvSpPr>
          <p:cNvPr id="45" name="TextBox 44"/>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Team introduction</a:t>
            </a:r>
          </a:p>
        </p:txBody>
      </p:sp>
      <p:sp>
        <p:nvSpPr>
          <p:cNvPr id="46" name="TextBox 45"/>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274320"/>
          </a:xfrm>
          <a:prstGeom prst="rect">
            <a:avLst/>
          </a:prstGeom>
          <a:noFill/>
        </p:spPr>
        <p:txBody>
          <a:bodyPr wrap="square">
            <a:spAutoFit/>
          </a:bodyPr>
          <a:lstStyle/>
          <a:p>
            <a:pPr>
              <a:lnSpc>
                <a:spcPct val="118000"/>
              </a:lnSpc>
              <a:spcBef>
                <a:spcPts val="0"/>
              </a:spcBef>
              <a:spcAft>
                <a:spcPts val="0"/>
              </a:spcAft>
            </a:pPr>
            <a:r>
              <a:rPr sz="1050" b="1">
                <a:solidFill>
                  <a:srgbClr val="2A78D6"/>
                </a:solidFill>
                <a:latin typeface="Segoe UI"/>
              </a:rPr>
              <a:t>SCOPE OF THE MODEL</a:t>
            </a:r>
          </a:p>
        </p:txBody>
      </p:sp>
      <p:sp>
        <p:nvSpPr>
          <p:cNvPr id="4" name="TextBox 3"/>
          <p:cNvSpPr txBox="1"/>
          <p:nvPr/>
        </p:nvSpPr>
        <p:spPr>
          <a:xfrm>
            <a:off x="713232" y="786384"/>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What the AI does, and does not</a:t>
            </a:r>
          </a:p>
        </p:txBody>
      </p:sp>
      <p:sp>
        <p:nvSpPr>
          <p:cNvPr id="5" name="Rectangle 4"/>
          <p:cNvSpPr/>
          <p:nvPr/>
        </p:nvSpPr>
        <p:spPr>
          <a:xfrm>
            <a:off x="713232" y="1444752"/>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713232" y="1755648"/>
            <a:ext cx="5199735" cy="4370832"/>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13232" y="1755648"/>
            <a:ext cx="50800" cy="43708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87552" y="1956816"/>
            <a:ext cx="4696815" cy="4005072"/>
          </a:xfrm>
          <a:prstGeom prst="rect">
            <a:avLst/>
          </a:prstGeom>
          <a:noFill/>
        </p:spPr>
        <p:txBody>
          <a:bodyPr wrap="square">
            <a:spAutoFit/>
          </a:bodyPr>
          <a:lstStyle/>
          <a:p>
            <a:pPr>
              <a:lnSpc>
                <a:spcPct val="118000"/>
              </a:lnSpc>
              <a:spcBef>
                <a:spcPts val="0"/>
              </a:spcBef>
              <a:spcAft>
                <a:spcPts val="0"/>
              </a:spcAft>
            </a:pPr>
            <a:r>
              <a:rPr sz="1500" b="1">
                <a:solidFill>
                  <a:srgbClr val="2A78D6"/>
                </a:solidFill>
                <a:latin typeface="Segoe UI"/>
              </a:rPr>
              <a:t>It does</a:t>
            </a:r>
          </a:p>
          <a:p>
            <a:pPr>
              <a:lnSpc>
                <a:spcPct val="118000"/>
              </a:lnSpc>
              <a:spcBef>
                <a:spcPts val="1400"/>
              </a:spcBef>
              <a:spcAft>
                <a:spcPts val="0"/>
              </a:spcAft>
            </a:pPr>
            <a:r>
              <a:rPr sz="1300" b="0">
                <a:solidFill>
                  <a:srgbClr val="52514E"/>
                </a:solidFill>
                <a:latin typeface="Segoe UI"/>
              </a:rPr>
              <a:t>·  Suggest the next step, from a fixed list of actions</a:t>
            </a:r>
          </a:p>
          <a:p>
            <a:pPr>
              <a:lnSpc>
                <a:spcPct val="118000"/>
              </a:lnSpc>
              <a:spcBef>
                <a:spcPts val="1100"/>
              </a:spcBef>
              <a:spcAft>
                <a:spcPts val="0"/>
              </a:spcAft>
            </a:pPr>
            <a:r>
              <a:rPr sz="1300" b="0">
                <a:solidFill>
                  <a:srgbClr val="52514E"/>
                </a:solidFill>
                <a:latin typeface="Segoe UI"/>
              </a:rPr>
              <a:t>·  Explain why, in one or two sentences</a:t>
            </a:r>
          </a:p>
          <a:p>
            <a:pPr>
              <a:lnSpc>
                <a:spcPct val="118000"/>
              </a:lnSpc>
              <a:spcBef>
                <a:spcPts val="1100"/>
              </a:spcBef>
              <a:spcAft>
                <a:spcPts val="0"/>
              </a:spcAft>
            </a:pPr>
            <a:r>
              <a:rPr sz="1300" b="0">
                <a:solidFill>
                  <a:srgbClr val="52514E"/>
                </a:solidFill>
                <a:latin typeface="Segoe UI"/>
              </a:rPr>
              <a:t>·  Draft a work note and a message to the caller</a:t>
            </a:r>
          </a:p>
          <a:p>
            <a:pPr>
              <a:lnSpc>
                <a:spcPct val="118000"/>
              </a:lnSpc>
              <a:spcBef>
                <a:spcPts val="1100"/>
              </a:spcBef>
              <a:spcAft>
                <a:spcPts val="0"/>
              </a:spcAft>
            </a:pPr>
            <a:r>
              <a:rPr sz="1300" b="0">
                <a:solidFill>
                  <a:srgbClr val="52514E"/>
                </a:solidFill>
                <a:latin typeface="Segoe UI"/>
              </a:rPr>
              <a:t>·  Cite evidence - similar resolved incidents, relevant articles</a:t>
            </a:r>
          </a:p>
        </p:txBody>
      </p:sp>
      <p:sp>
        <p:nvSpPr>
          <p:cNvPr id="9" name="Rounded Rectangle 8"/>
          <p:cNvSpPr/>
          <p:nvPr/>
        </p:nvSpPr>
        <p:spPr>
          <a:xfrm>
            <a:off x="6278727" y="1755648"/>
            <a:ext cx="5199735" cy="4370832"/>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278727" y="1755648"/>
            <a:ext cx="50800" cy="4370832"/>
          </a:xfrm>
          <a:prstGeom prst="rect">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553047" y="1956816"/>
            <a:ext cx="4696815" cy="4005072"/>
          </a:xfrm>
          <a:prstGeom prst="rect">
            <a:avLst/>
          </a:prstGeom>
          <a:noFill/>
        </p:spPr>
        <p:txBody>
          <a:bodyPr wrap="square">
            <a:spAutoFit/>
          </a:bodyPr>
          <a:lstStyle/>
          <a:p>
            <a:pPr>
              <a:lnSpc>
                <a:spcPct val="118000"/>
              </a:lnSpc>
              <a:spcBef>
                <a:spcPts val="0"/>
              </a:spcBef>
              <a:spcAft>
                <a:spcPts val="0"/>
              </a:spcAft>
            </a:pPr>
            <a:r>
              <a:rPr sz="1500" b="1">
                <a:solidFill>
                  <a:srgbClr val="D03B3B"/>
                </a:solidFill>
                <a:latin typeface="Segoe UI"/>
              </a:rPr>
              <a:t>It does not</a:t>
            </a:r>
          </a:p>
          <a:p>
            <a:pPr>
              <a:lnSpc>
                <a:spcPct val="118000"/>
              </a:lnSpc>
              <a:spcBef>
                <a:spcPts val="1400"/>
              </a:spcBef>
              <a:spcAft>
                <a:spcPts val="0"/>
              </a:spcAft>
            </a:pPr>
            <a:r>
              <a:rPr sz="1300" b="0">
                <a:solidFill>
                  <a:srgbClr val="52514E"/>
                </a:solidFill>
                <a:latin typeface="Segoe UI"/>
              </a:rPr>
              <a:t>·  Decide the ranking - that is the arithmetic above</a:t>
            </a:r>
          </a:p>
          <a:p>
            <a:pPr>
              <a:lnSpc>
                <a:spcPct val="118000"/>
              </a:lnSpc>
              <a:spcBef>
                <a:spcPts val="1100"/>
              </a:spcBef>
              <a:spcAft>
                <a:spcPts val="0"/>
              </a:spcAft>
            </a:pPr>
            <a:r>
              <a:rPr sz="1300" b="0">
                <a:solidFill>
                  <a:srgbClr val="52514E"/>
                </a:solidFill>
                <a:latin typeface="Segoe UI"/>
              </a:rPr>
              <a:t>·  Write anything to ServiceNow, ever</a:t>
            </a:r>
          </a:p>
          <a:p>
            <a:pPr>
              <a:lnSpc>
                <a:spcPct val="118000"/>
              </a:lnSpc>
              <a:spcBef>
                <a:spcPts val="1100"/>
              </a:spcBef>
              <a:spcAft>
                <a:spcPts val="0"/>
              </a:spcAft>
            </a:pPr>
            <a:r>
              <a:rPr sz="1300" b="0">
                <a:solidFill>
                  <a:srgbClr val="52514E"/>
                </a:solidFill>
                <a:latin typeface="Segoe UI"/>
              </a:rPr>
              <a:t>·  Resolve, reassign, close or comment automatically</a:t>
            </a:r>
          </a:p>
          <a:p>
            <a:pPr>
              <a:lnSpc>
                <a:spcPct val="118000"/>
              </a:lnSpc>
              <a:spcBef>
                <a:spcPts val="1100"/>
              </a:spcBef>
              <a:spcAft>
                <a:spcPts val="0"/>
              </a:spcAft>
            </a:pPr>
            <a:r>
              <a:rPr sz="1300" b="0">
                <a:solidFill>
                  <a:srgbClr val="52514E"/>
                </a:solidFill>
                <a:latin typeface="Segoe UI"/>
              </a:rPr>
              <a:t>·  See personal data - it is removed before the request is sent</a:t>
            </a:r>
          </a:p>
        </p:txBody>
      </p:sp>
      <p:sp>
        <p:nvSpPr>
          <p:cNvPr id="12" name="TextBox 11"/>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Team introduction</a:t>
            </a:r>
          </a:p>
        </p:txBody>
      </p:sp>
      <p:sp>
        <p:nvSpPr>
          <p:cNvPr id="13" name="TextBox 12"/>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274320"/>
          </a:xfrm>
          <a:prstGeom prst="rect">
            <a:avLst/>
          </a:prstGeom>
          <a:noFill/>
        </p:spPr>
        <p:txBody>
          <a:bodyPr wrap="square">
            <a:spAutoFit/>
          </a:bodyPr>
          <a:lstStyle/>
          <a:p>
            <a:pPr>
              <a:lnSpc>
                <a:spcPct val="118000"/>
              </a:lnSpc>
              <a:spcBef>
                <a:spcPts val="0"/>
              </a:spcBef>
              <a:spcAft>
                <a:spcPts val="0"/>
              </a:spcAft>
            </a:pPr>
            <a:r>
              <a:rPr sz="1050" b="1">
                <a:solidFill>
                  <a:srgbClr val="2A78D6"/>
                </a:solidFill>
                <a:latin typeface="Segoe UI"/>
              </a:rPr>
              <a:t>DELIVERY</a:t>
            </a:r>
          </a:p>
        </p:txBody>
      </p:sp>
      <p:sp>
        <p:nvSpPr>
          <p:cNvPr id="4" name="TextBox 3"/>
          <p:cNvSpPr txBox="1"/>
          <p:nvPr/>
        </p:nvSpPr>
        <p:spPr>
          <a:xfrm>
            <a:off x="713232" y="786384"/>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How it reaches you</a:t>
            </a:r>
          </a:p>
        </p:txBody>
      </p:sp>
      <p:sp>
        <p:nvSpPr>
          <p:cNvPr id="5" name="Rectangle 4"/>
          <p:cNvSpPr/>
          <p:nvPr/>
        </p:nvSpPr>
        <p:spPr>
          <a:xfrm>
            <a:off x="713232" y="1444752"/>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713232" y="1755648"/>
            <a:ext cx="3429914" cy="157276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13232" y="1755648"/>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14400" y="1920240"/>
            <a:ext cx="3027578" cy="129844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The board</a:t>
            </a:r>
          </a:p>
          <a:p>
            <a:pPr>
              <a:lnSpc>
                <a:spcPct val="118000"/>
              </a:lnSpc>
              <a:spcBef>
                <a:spcPts val="600"/>
              </a:spcBef>
              <a:spcAft>
                <a:spcPts val="0"/>
              </a:spcAft>
            </a:pPr>
            <a:r>
              <a:rPr sz="1150" b="0">
                <a:solidFill>
                  <a:srgbClr val="52514E"/>
                </a:solidFill>
                <a:latin typeface="Segoe UI"/>
              </a:rPr>
              <a:t>Ranked worst-first, filtered to your queues. The top ten is normally the whole job.</a:t>
            </a:r>
          </a:p>
        </p:txBody>
      </p:sp>
      <p:sp>
        <p:nvSpPr>
          <p:cNvPr id="9" name="Rounded Rectangle 8"/>
          <p:cNvSpPr/>
          <p:nvPr/>
        </p:nvSpPr>
        <p:spPr>
          <a:xfrm>
            <a:off x="4380890" y="1755648"/>
            <a:ext cx="3429914" cy="157276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4380890" y="1755648"/>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82058" y="1920240"/>
            <a:ext cx="3027578" cy="129844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Daily lead digest</a:t>
            </a:r>
          </a:p>
          <a:p>
            <a:pPr>
              <a:lnSpc>
                <a:spcPct val="118000"/>
              </a:lnSpc>
              <a:spcBef>
                <a:spcPts val="600"/>
              </a:spcBef>
              <a:spcAft>
                <a:spcPts val="0"/>
              </a:spcAft>
            </a:pPr>
            <a:r>
              <a:rPr sz="1150" b="0">
                <a:solidFill>
                  <a:srgbClr val="52514E"/>
                </a:solidFill>
                <a:latin typeface="Segoe UI"/>
              </a:rPr>
              <a:t>What is new, what got worse, and what is waiting on us - one email per assignment group, before the shift.</a:t>
            </a:r>
          </a:p>
        </p:txBody>
      </p:sp>
      <p:sp>
        <p:nvSpPr>
          <p:cNvPr id="12" name="Rounded Rectangle 11"/>
          <p:cNvSpPr/>
          <p:nvPr/>
        </p:nvSpPr>
        <p:spPr>
          <a:xfrm>
            <a:off x="8048548" y="1755648"/>
            <a:ext cx="3429914" cy="157276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8048548" y="1755648"/>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249716" y="1920240"/>
            <a:ext cx="3027578" cy="129844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Per-agent digest</a:t>
            </a:r>
          </a:p>
          <a:p>
            <a:pPr>
              <a:lnSpc>
                <a:spcPct val="118000"/>
              </a:lnSpc>
              <a:spcBef>
                <a:spcPts val="600"/>
              </a:spcBef>
              <a:spcAft>
                <a:spcPts val="0"/>
              </a:spcAft>
            </a:pPr>
            <a:r>
              <a:rPr sz="1150" b="0">
                <a:solidFill>
                  <a:srgbClr val="52514E"/>
                </a:solidFill>
                <a:latin typeface="Segoe UI"/>
              </a:rPr>
              <a:t>A short list for each agent covering only their own tickets.</a:t>
            </a:r>
          </a:p>
        </p:txBody>
      </p:sp>
      <p:sp>
        <p:nvSpPr>
          <p:cNvPr id="15" name="Rounded Rectangle 14"/>
          <p:cNvSpPr/>
          <p:nvPr/>
        </p:nvSpPr>
        <p:spPr>
          <a:xfrm>
            <a:off x="713232" y="3566160"/>
            <a:ext cx="3429914" cy="157276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713232" y="3566160"/>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14400" y="3730752"/>
            <a:ext cx="3027578" cy="129844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Risk alerts</a:t>
            </a:r>
          </a:p>
          <a:p>
            <a:pPr>
              <a:lnSpc>
                <a:spcPct val="118000"/>
              </a:lnSpc>
              <a:spcBef>
                <a:spcPts val="600"/>
              </a:spcBef>
              <a:spcAft>
                <a:spcPts val="0"/>
              </a:spcAft>
            </a:pPr>
            <a:r>
              <a:rPr sz="1150" b="0">
                <a:solidFill>
                  <a:srgbClr val="52514E"/>
                </a:solidFill>
                <a:latin typeface="Segoe UI"/>
              </a:rPr>
              <a:t>Breach, inactivity and unanswered-caller events, once per ticket per type per day, split by group.</a:t>
            </a:r>
          </a:p>
        </p:txBody>
      </p:sp>
      <p:sp>
        <p:nvSpPr>
          <p:cNvPr id="18" name="Rounded Rectangle 17"/>
          <p:cNvSpPr/>
          <p:nvPr/>
        </p:nvSpPr>
        <p:spPr>
          <a:xfrm>
            <a:off x="4380890" y="3566160"/>
            <a:ext cx="3429914" cy="157276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380890" y="3566160"/>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582058" y="3730752"/>
            <a:ext cx="3027578" cy="129844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Ticket page</a:t>
            </a:r>
          </a:p>
          <a:p>
            <a:pPr>
              <a:lnSpc>
                <a:spcPct val="118000"/>
              </a:lnSpc>
              <a:spcBef>
                <a:spcPts val="600"/>
              </a:spcBef>
              <a:spcAft>
                <a:spcPts val="0"/>
              </a:spcAft>
            </a:pPr>
            <a:r>
              <a:rPr sz="1150" b="0">
                <a:solidFill>
                  <a:srgbClr val="52514E"/>
                </a:solidFill>
                <a:latin typeface="Segoe UI"/>
              </a:rPr>
              <a:t>Signals, score breakdown, full activity, and drafts you can copy straight out.</a:t>
            </a:r>
          </a:p>
        </p:txBody>
      </p:sp>
      <p:sp>
        <p:nvSpPr>
          <p:cNvPr id="21" name="Rounded Rectangle 20"/>
          <p:cNvSpPr/>
          <p:nvPr/>
        </p:nvSpPr>
        <p:spPr>
          <a:xfrm>
            <a:off x="8048548" y="3566160"/>
            <a:ext cx="3429914" cy="157276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048548" y="3566160"/>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249716" y="3730752"/>
            <a:ext cx="3027578" cy="129844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By agent view</a:t>
            </a:r>
          </a:p>
          <a:p>
            <a:pPr>
              <a:lnSpc>
                <a:spcPct val="118000"/>
              </a:lnSpc>
              <a:spcBef>
                <a:spcPts val="600"/>
              </a:spcBef>
              <a:spcAft>
                <a:spcPts val="0"/>
              </a:spcAft>
            </a:pPr>
            <a:r>
              <a:rPr sz="1150" b="0">
                <a:solidFill>
                  <a:srgbClr val="52514E"/>
                </a:solidFill>
                <a:latin typeface="Segoe UI"/>
              </a:rPr>
              <a:t>Per-person backlog, alongside the compliance score from the existing audit tool.</a:t>
            </a:r>
          </a:p>
        </p:txBody>
      </p:sp>
      <p:sp>
        <p:nvSpPr>
          <p:cNvPr id="24" name="TextBox 23"/>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Team introduction</a:t>
            </a:r>
          </a:p>
        </p:txBody>
      </p:sp>
      <p:sp>
        <p:nvSpPr>
          <p:cNvPr id="25" name="TextBox 24"/>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13232" y="1737360"/>
            <a:ext cx="50800" cy="30175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1737360"/>
            <a:ext cx="10033711" cy="3108960"/>
          </a:xfrm>
          <a:prstGeom prst="rect">
            <a:avLst/>
          </a:prstGeom>
          <a:noFill/>
        </p:spPr>
        <p:txBody>
          <a:bodyPr wrap="square">
            <a:spAutoFit/>
          </a:bodyPr>
          <a:lstStyle/>
          <a:p>
            <a:pPr>
              <a:lnSpc>
                <a:spcPct val="118000"/>
              </a:lnSpc>
              <a:spcBef>
                <a:spcPts val="0"/>
              </a:spcBef>
              <a:spcAft>
                <a:spcPts val="0"/>
              </a:spcAft>
            </a:pPr>
            <a:r>
              <a:rPr sz="1100" b="1">
                <a:solidFill>
                  <a:srgbClr val="2A78D6"/>
                </a:solidFill>
                <a:latin typeface="Segoe UI"/>
              </a:rPr>
              <a:t>HOW WE WILL KNOW IT IS WORKING</a:t>
            </a:r>
          </a:p>
          <a:p>
            <a:pPr>
              <a:lnSpc>
                <a:spcPct val="118000"/>
              </a:lnSpc>
              <a:spcBef>
                <a:spcPts val="1400"/>
              </a:spcBef>
              <a:spcAft>
                <a:spcPts val="0"/>
              </a:spcAft>
            </a:pPr>
            <a:r>
              <a:rPr sz="3000" b="1">
                <a:solidFill>
                  <a:srgbClr val="0B0B0B"/>
                </a:solidFill>
                <a:latin typeface="Segoe UI"/>
              </a:rPr>
              <a:t>Every suggestion gets a verdict from a lead, and the agreement rate is published.</a:t>
            </a:r>
          </a:p>
          <a:p>
            <a:pPr>
              <a:lnSpc>
                <a:spcPct val="118000"/>
              </a:lnSpc>
              <a:spcBef>
                <a:spcPts val="1600"/>
              </a:spcBef>
              <a:spcAft>
                <a:spcPts val="0"/>
              </a:spcAft>
            </a:pPr>
            <a:r>
              <a:rPr sz="1500" b="0">
                <a:solidFill>
                  <a:srgbClr val="52514E"/>
                </a:solidFill>
                <a:latin typeface="Segoe UI"/>
              </a:rPr>
              <a:t>Agree, mostly right, wrong, not applicable, already handled. The Accuracy page tracks agreement over time, which action types are reliable, and - the uncomfortable one - breaches that happened with no warning.</a:t>
            </a:r>
          </a:p>
        </p:txBody>
      </p:sp>
      <p:sp>
        <p:nvSpPr>
          <p:cNvPr id="5" name="TextBox 4"/>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Team introduction</a:t>
            </a:r>
          </a:p>
        </p:txBody>
      </p:sp>
      <p:sp>
        <p:nvSpPr>
          <p:cNvPr id="6" name="TextBox 5"/>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274320"/>
          </a:xfrm>
          <a:prstGeom prst="rect">
            <a:avLst/>
          </a:prstGeom>
          <a:noFill/>
        </p:spPr>
        <p:txBody>
          <a:bodyPr wrap="square">
            <a:spAutoFit/>
          </a:bodyPr>
          <a:lstStyle/>
          <a:p>
            <a:pPr>
              <a:lnSpc>
                <a:spcPct val="118000"/>
              </a:lnSpc>
              <a:spcBef>
                <a:spcPts val="0"/>
              </a:spcBef>
              <a:spcAft>
                <a:spcPts val="0"/>
              </a:spcAft>
            </a:pPr>
            <a:r>
              <a:rPr sz="1050" b="1">
                <a:solidFill>
                  <a:srgbClr val="2A78D6"/>
                </a:solidFill>
                <a:latin typeface="Segoe UI"/>
              </a:rPr>
              <a:t>BENEFITS</a:t>
            </a:r>
          </a:p>
        </p:txBody>
      </p:sp>
      <p:sp>
        <p:nvSpPr>
          <p:cNvPr id="4" name="TextBox 3"/>
          <p:cNvSpPr txBox="1"/>
          <p:nvPr/>
        </p:nvSpPr>
        <p:spPr>
          <a:xfrm>
            <a:off x="713232" y="786384"/>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Where it helps</a:t>
            </a:r>
          </a:p>
        </p:txBody>
      </p:sp>
      <p:sp>
        <p:nvSpPr>
          <p:cNvPr id="5" name="Rectangle 4"/>
          <p:cNvSpPr/>
          <p:nvPr/>
        </p:nvSpPr>
        <p:spPr>
          <a:xfrm>
            <a:off x="713232" y="1444752"/>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755648"/>
            <a:ext cx="10765231" cy="359664"/>
          </a:xfrm>
          <a:prstGeom prst="rect">
            <a:avLst/>
          </a:prstGeom>
          <a:noFill/>
        </p:spPr>
        <p:txBody>
          <a:bodyPr wrap="square">
            <a:spAutoFit/>
          </a:bodyPr>
          <a:lstStyle/>
          <a:p>
            <a:pPr>
              <a:lnSpc>
                <a:spcPct val="118000"/>
              </a:lnSpc>
              <a:spcBef>
                <a:spcPts val="0"/>
              </a:spcBef>
              <a:spcAft>
                <a:spcPts val="0"/>
              </a:spcAft>
            </a:pPr>
            <a:r>
              <a:rPr sz="1400" b="0">
                <a:solidFill>
                  <a:srgbClr val="52514E"/>
                </a:solidFill>
                <a:latin typeface="Segoe UI"/>
              </a:rPr>
              <a:t>Deliberately no percentages on this slide - nothing has been measured yet. The pilot is what produces those.</a:t>
            </a:r>
          </a:p>
        </p:txBody>
      </p:sp>
      <p:sp>
        <p:nvSpPr>
          <p:cNvPr id="7" name="Rounded Rectangle 6"/>
          <p:cNvSpPr/>
          <p:nvPr/>
        </p:nvSpPr>
        <p:spPr>
          <a:xfrm>
            <a:off x="713232" y="2115312"/>
            <a:ext cx="3429914" cy="157276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13232" y="2115312"/>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2279904"/>
            <a:ext cx="3027578" cy="129844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A shorter review</a:t>
            </a:r>
          </a:p>
          <a:p>
            <a:pPr>
              <a:lnSpc>
                <a:spcPct val="118000"/>
              </a:lnSpc>
              <a:spcBef>
                <a:spcPts val="600"/>
              </a:spcBef>
              <a:spcAft>
                <a:spcPts val="0"/>
              </a:spcAft>
            </a:pPr>
            <a:r>
              <a:rPr sz="1150" b="0">
                <a:solidFill>
                  <a:srgbClr val="52514E"/>
                </a:solidFill>
                <a:latin typeface="Segoe UI"/>
              </a:rPr>
              <a:t>Ranked, so the decision is where to stop reading rather than what to read first.</a:t>
            </a:r>
          </a:p>
        </p:txBody>
      </p:sp>
      <p:sp>
        <p:nvSpPr>
          <p:cNvPr id="10" name="Rounded Rectangle 9"/>
          <p:cNvSpPr/>
          <p:nvPr/>
        </p:nvSpPr>
        <p:spPr>
          <a:xfrm>
            <a:off x="4380890" y="2115312"/>
            <a:ext cx="3429914" cy="157276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4380890" y="2115312"/>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582058" y="2279904"/>
            <a:ext cx="3027578" cy="129844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Fewer silent stalls</a:t>
            </a:r>
          </a:p>
          <a:p>
            <a:pPr>
              <a:lnSpc>
                <a:spcPct val="118000"/>
              </a:lnSpc>
              <a:spcBef>
                <a:spcPts val="600"/>
              </a:spcBef>
              <a:spcAft>
                <a:spcPts val="0"/>
              </a:spcAft>
            </a:pPr>
            <a:r>
              <a:rPr sz="1150" b="0">
                <a:solidFill>
                  <a:srgbClr val="52514E"/>
                </a:solidFill>
                <a:latin typeface="Segoe UI"/>
              </a:rPr>
              <a:t>Cleared dependencies and unanswered callers surface the day they happen.</a:t>
            </a:r>
          </a:p>
        </p:txBody>
      </p:sp>
      <p:sp>
        <p:nvSpPr>
          <p:cNvPr id="13" name="Rounded Rectangle 12"/>
          <p:cNvSpPr/>
          <p:nvPr/>
        </p:nvSpPr>
        <p:spPr>
          <a:xfrm>
            <a:off x="8048548" y="2115312"/>
            <a:ext cx="3429914" cy="157276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8048548" y="2115312"/>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49716" y="2279904"/>
            <a:ext cx="3027578" cy="129844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Warning before the breach</a:t>
            </a:r>
          </a:p>
          <a:p>
            <a:pPr>
              <a:lnSpc>
                <a:spcPct val="118000"/>
              </a:lnSpc>
              <a:spcBef>
                <a:spcPts val="600"/>
              </a:spcBef>
              <a:spcAft>
                <a:spcPts val="0"/>
              </a:spcAft>
            </a:pPr>
            <a:r>
              <a:rPr sz="1150" b="0">
                <a:solidFill>
                  <a:srgbClr val="52514E"/>
                </a:solidFill>
                <a:latin typeface="Segoe UI"/>
              </a:rPr>
              <a:t>Projected breach time, not a post-mortem.</a:t>
            </a:r>
          </a:p>
        </p:txBody>
      </p:sp>
      <p:sp>
        <p:nvSpPr>
          <p:cNvPr id="16" name="Rounded Rectangle 15"/>
          <p:cNvSpPr/>
          <p:nvPr/>
        </p:nvSpPr>
        <p:spPr>
          <a:xfrm>
            <a:off x="713232" y="3925824"/>
            <a:ext cx="3429914" cy="157276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713232" y="3925824"/>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14400" y="4090416"/>
            <a:ext cx="3027578" cy="129844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The same standard daily</a:t>
            </a:r>
          </a:p>
          <a:p>
            <a:pPr>
              <a:lnSpc>
                <a:spcPct val="118000"/>
              </a:lnSpc>
              <a:spcBef>
                <a:spcPts val="600"/>
              </a:spcBef>
              <a:spcAft>
                <a:spcPts val="0"/>
              </a:spcAft>
            </a:pPr>
            <a:r>
              <a:rPr sz="1150" b="0">
                <a:solidFill>
                  <a:srgbClr val="52514E"/>
                </a:solidFill>
                <a:latin typeface="Segoe UI"/>
              </a:rPr>
              <a:t>Every queue reviewed by the same rules, including the days nobody has time.</a:t>
            </a:r>
          </a:p>
        </p:txBody>
      </p:sp>
      <p:sp>
        <p:nvSpPr>
          <p:cNvPr id="19" name="Rounded Rectangle 18"/>
          <p:cNvSpPr/>
          <p:nvPr/>
        </p:nvSpPr>
        <p:spPr>
          <a:xfrm>
            <a:off x="4380890" y="3925824"/>
            <a:ext cx="3429914" cy="157276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4380890" y="3925824"/>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582058" y="4090416"/>
            <a:ext cx="3027578" cy="129844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Coaching with evidence</a:t>
            </a:r>
          </a:p>
          <a:p>
            <a:pPr>
              <a:lnSpc>
                <a:spcPct val="118000"/>
              </a:lnSpc>
              <a:spcBef>
                <a:spcPts val="600"/>
              </a:spcBef>
              <a:spcAft>
                <a:spcPts val="0"/>
              </a:spcAft>
            </a:pPr>
            <a:r>
              <a:rPr sz="1150" b="0">
                <a:solidFill>
                  <a:srgbClr val="52514E"/>
                </a:solidFill>
                <a:latin typeface="Segoe UI"/>
              </a:rPr>
              <a:t>Per-agent backlog and ageing, next to audit compliance.</a:t>
            </a:r>
          </a:p>
        </p:txBody>
      </p:sp>
      <p:sp>
        <p:nvSpPr>
          <p:cNvPr id="22" name="Rounded Rectangle 21"/>
          <p:cNvSpPr/>
          <p:nvPr/>
        </p:nvSpPr>
        <p:spPr>
          <a:xfrm>
            <a:off x="8048548" y="3925824"/>
            <a:ext cx="3429914" cy="1572768"/>
          </a:xfrm>
          <a:prstGeom prst="roundRect">
            <a:avLst/>
          </a:prstGeom>
          <a:solidFill>
            <a:srgbClr val="F9F9F7"/>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8048548" y="3925824"/>
            <a:ext cx="3429914"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249716" y="4090416"/>
            <a:ext cx="3027578" cy="1298448"/>
          </a:xfrm>
          <a:prstGeom prst="rect">
            <a:avLst/>
          </a:prstGeom>
          <a:noFill/>
        </p:spPr>
        <p:txBody>
          <a:bodyPr wrap="square">
            <a:spAutoFit/>
          </a:bodyPr>
          <a:lstStyle/>
          <a:p>
            <a:pPr>
              <a:lnSpc>
                <a:spcPct val="118000"/>
              </a:lnSpc>
              <a:spcBef>
                <a:spcPts val="0"/>
              </a:spcBef>
              <a:spcAft>
                <a:spcPts val="0"/>
              </a:spcAft>
            </a:pPr>
            <a:r>
              <a:rPr sz="1350" b="1">
                <a:solidFill>
                  <a:srgbClr val="0B0B0B"/>
                </a:solidFill>
                <a:latin typeface="Segoe UI"/>
              </a:rPr>
              <a:t>A number to argue with</a:t>
            </a:r>
          </a:p>
          <a:p>
            <a:pPr>
              <a:lnSpc>
                <a:spcPct val="118000"/>
              </a:lnSpc>
              <a:spcBef>
                <a:spcPts val="600"/>
              </a:spcBef>
              <a:spcAft>
                <a:spcPts val="0"/>
              </a:spcAft>
            </a:pPr>
            <a:r>
              <a:rPr sz="1150" b="0">
                <a:solidFill>
                  <a:srgbClr val="52514E"/>
                </a:solidFill>
                <a:latin typeface="Segoe UI"/>
              </a:rPr>
              <a:t>Agreement rate makes the tool accountable to the team, not the other way round.</a:t>
            </a:r>
          </a:p>
        </p:txBody>
      </p:sp>
      <p:sp>
        <p:nvSpPr>
          <p:cNvPr id="25" name="TextBox 24"/>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Team introduction</a:t>
            </a:r>
          </a:p>
        </p:txBody>
      </p:sp>
      <p:sp>
        <p:nvSpPr>
          <p:cNvPr id="26" name="TextBox 25"/>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274320"/>
          </a:xfrm>
          <a:prstGeom prst="rect">
            <a:avLst/>
          </a:prstGeom>
          <a:noFill/>
        </p:spPr>
        <p:txBody>
          <a:bodyPr wrap="square">
            <a:spAutoFit/>
          </a:bodyPr>
          <a:lstStyle/>
          <a:p>
            <a:pPr>
              <a:lnSpc>
                <a:spcPct val="118000"/>
              </a:lnSpc>
              <a:spcBef>
                <a:spcPts val="0"/>
              </a:spcBef>
              <a:spcAft>
                <a:spcPts val="0"/>
              </a:spcAft>
            </a:pPr>
            <a:r>
              <a:rPr sz="1050" b="1">
                <a:solidFill>
                  <a:srgbClr val="2A78D6"/>
                </a:solidFill>
                <a:latin typeface="Segoe UI"/>
              </a:rPr>
              <a:t>GOVERNANCE</a:t>
            </a:r>
          </a:p>
        </p:txBody>
      </p:sp>
      <p:sp>
        <p:nvSpPr>
          <p:cNvPr id="4" name="TextBox 3"/>
          <p:cNvSpPr txBox="1"/>
          <p:nvPr/>
        </p:nvSpPr>
        <p:spPr>
          <a:xfrm>
            <a:off x="713232" y="786384"/>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Access and safety</a:t>
            </a:r>
          </a:p>
        </p:txBody>
      </p:sp>
      <p:sp>
        <p:nvSpPr>
          <p:cNvPr id="5" name="Rectangle 4"/>
          <p:cNvSpPr/>
          <p:nvPr/>
        </p:nvSpPr>
        <p:spPr>
          <a:xfrm>
            <a:off x="713232" y="1444752"/>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755648"/>
            <a:ext cx="10765231" cy="4416552"/>
          </a:xfrm>
          <a:prstGeom prst="rect">
            <a:avLst/>
          </a:prstGeom>
          <a:noFill/>
        </p:spPr>
        <p:txBody>
          <a:bodyPr wrap="square">
            <a:spAutoFit/>
          </a:bodyPr>
          <a:lstStyle/>
          <a:p>
            <a:pPr>
              <a:lnSpc>
                <a:spcPct val="118000"/>
              </a:lnSpc>
              <a:spcBef>
                <a:spcPts val="0"/>
              </a:spcBef>
              <a:spcAft>
                <a:spcPts val="0"/>
              </a:spcAft>
            </a:pPr>
            <a:r>
              <a:rPr sz="1400" b="0">
                <a:solidFill>
                  <a:srgbClr val="0B0B0B"/>
                </a:solidFill>
                <a:latin typeface="Segoe UI"/>
              </a:rPr>
              <a:t>·  Read-only ServiceNow integration. No write client exists.</a:t>
            </a:r>
          </a:p>
          <a:p>
            <a:pPr>
              <a:lnSpc>
                <a:spcPct val="118000"/>
              </a:lnSpc>
              <a:spcBef>
                <a:spcPts val="1000"/>
              </a:spcBef>
              <a:spcAft>
                <a:spcPts val="0"/>
              </a:spcAft>
            </a:pPr>
            <a:r>
              <a:rPr sz="1400" b="0">
                <a:solidFill>
                  <a:srgbClr val="0B0B0B"/>
                </a:solidFill>
                <a:latin typeface="Segoe UI"/>
              </a:rPr>
              <a:t>·  Single sign-on through Keycloak, with your existing account.</a:t>
            </a:r>
          </a:p>
          <a:p>
            <a:pPr>
              <a:lnSpc>
                <a:spcPct val="118000"/>
              </a:lnSpc>
              <a:spcBef>
                <a:spcPts val="1000"/>
              </a:spcBef>
              <a:spcAft>
                <a:spcPts val="0"/>
              </a:spcAft>
            </a:pPr>
            <a:r>
              <a:rPr sz="1400" b="0">
                <a:solidFill>
                  <a:srgbClr val="0B0B0B"/>
                </a:solidFill>
                <a:latin typeface="Segoe UI"/>
              </a:rPr>
              <a:t>·  Three roles: Admin, Lead, Viewer. New users start as Viewer.</a:t>
            </a:r>
          </a:p>
          <a:p>
            <a:pPr>
              <a:lnSpc>
                <a:spcPct val="118000"/>
              </a:lnSpc>
              <a:spcBef>
                <a:spcPts val="1000"/>
              </a:spcBef>
              <a:spcAft>
                <a:spcPts val="0"/>
              </a:spcAft>
            </a:pPr>
            <a:r>
              <a:rPr sz="1400" b="0">
                <a:solidFill>
                  <a:srgbClr val="0B0B0B"/>
                </a:solidFill>
                <a:latin typeface="Segoe UI"/>
              </a:rPr>
              <a:t>·  You see only the assignment groups you belong to - read from ServiceNow on first sign-in.</a:t>
            </a:r>
          </a:p>
          <a:p>
            <a:pPr>
              <a:lnSpc>
                <a:spcPct val="118000"/>
              </a:lnSpc>
              <a:spcBef>
                <a:spcPts val="1000"/>
              </a:spcBef>
              <a:spcAft>
                <a:spcPts val="0"/>
              </a:spcAft>
            </a:pPr>
            <a:r>
              <a:rPr sz="1400" b="0">
                <a:solidFill>
                  <a:srgbClr val="0B0B0B"/>
                </a:solidFill>
                <a:latin typeface="Segoe UI"/>
              </a:rPr>
              <a:t>·  Digests and alerts are scoped the same way: a lead covering two queues gets one email containing those two, never a third.</a:t>
            </a:r>
          </a:p>
          <a:p>
            <a:pPr>
              <a:lnSpc>
                <a:spcPct val="118000"/>
              </a:lnSpc>
              <a:spcBef>
                <a:spcPts val="1000"/>
              </a:spcBef>
              <a:spcAft>
                <a:spcPts val="0"/>
              </a:spcAft>
            </a:pPr>
            <a:r>
              <a:rPr sz="1400" b="0">
                <a:solidFill>
                  <a:srgbClr val="0B0B0B"/>
                </a:solidFill>
                <a:latin typeface="Segoe UI"/>
              </a:rPr>
              <a:t>·  Separate database and service from the existing audit tool.</a:t>
            </a:r>
          </a:p>
          <a:p>
            <a:pPr>
              <a:lnSpc>
                <a:spcPct val="118000"/>
              </a:lnSpc>
              <a:spcBef>
                <a:spcPts val="1000"/>
              </a:spcBef>
              <a:spcAft>
                <a:spcPts val="0"/>
              </a:spcAft>
            </a:pPr>
            <a:r>
              <a:rPr sz="1400" b="0">
                <a:solidFill>
                  <a:srgbClr val="0B0B0B"/>
                </a:solidFill>
                <a:latin typeface="Segoe UI"/>
              </a:rPr>
              <a:t>·  Credentials held in Vault; nothing in a config file.</a:t>
            </a:r>
          </a:p>
          <a:p>
            <a:pPr>
              <a:lnSpc>
                <a:spcPct val="118000"/>
              </a:lnSpc>
              <a:spcBef>
                <a:spcPts val="1000"/>
              </a:spcBef>
              <a:spcAft>
                <a:spcPts val="0"/>
              </a:spcAft>
            </a:pPr>
            <a:r>
              <a:rPr sz="1400" b="0">
                <a:solidFill>
                  <a:srgbClr val="0B0B0B"/>
                </a:solidFill>
                <a:latin typeface="Segoe UI"/>
              </a:rPr>
              <a:t>·  All times shown in US Central, switchable per person.</a:t>
            </a:r>
          </a:p>
        </p:txBody>
      </p:sp>
      <p:sp>
        <p:nvSpPr>
          <p:cNvPr id="7" name="TextBox 6"/>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Team introduction</a:t>
            </a:r>
          </a:p>
        </p:txBody>
      </p:sp>
      <p:sp>
        <p:nvSpPr>
          <p:cNvPr id="8" name="TextBox 7"/>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13232" y="475488"/>
            <a:ext cx="10765231" cy="274320"/>
          </a:xfrm>
          <a:prstGeom prst="rect">
            <a:avLst/>
          </a:prstGeom>
          <a:noFill/>
        </p:spPr>
        <p:txBody>
          <a:bodyPr wrap="square">
            <a:spAutoFit/>
          </a:bodyPr>
          <a:lstStyle/>
          <a:p>
            <a:pPr>
              <a:lnSpc>
                <a:spcPct val="118000"/>
              </a:lnSpc>
              <a:spcBef>
                <a:spcPts val="0"/>
              </a:spcBef>
              <a:spcAft>
                <a:spcPts val="0"/>
              </a:spcAft>
            </a:pPr>
            <a:r>
              <a:rPr sz="1050" b="1">
                <a:solidFill>
                  <a:srgbClr val="2A78D6"/>
                </a:solidFill>
                <a:latin typeface="Segoe UI"/>
              </a:rPr>
              <a:t>NEXT STEPS</a:t>
            </a:r>
          </a:p>
        </p:txBody>
      </p:sp>
      <p:sp>
        <p:nvSpPr>
          <p:cNvPr id="4" name="TextBox 3"/>
          <p:cNvSpPr txBox="1"/>
          <p:nvPr/>
        </p:nvSpPr>
        <p:spPr>
          <a:xfrm>
            <a:off x="713232" y="786384"/>
            <a:ext cx="10765231" cy="566928"/>
          </a:xfrm>
          <a:prstGeom prst="rect">
            <a:avLst/>
          </a:prstGeom>
          <a:noFill/>
        </p:spPr>
        <p:txBody>
          <a:bodyPr wrap="square">
            <a:spAutoFit/>
          </a:bodyPr>
          <a:lstStyle/>
          <a:p>
            <a:pPr>
              <a:lnSpc>
                <a:spcPct val="118000"/>
              </a:lnSpc>
              <a:spcBef>
                <a:spcPts val="0"/>
              </a:spcBef>
              <a:spcAft>
                <a:spcPts val="0"/>
              </a:spcAft>
            </a:pPr>
            <a:r>
              <a:rPr sz="2700" b="1">
                <a:solidFill>
                  <a:srgbClr val="0B0B0B"/>
                </a:solidFill>
                <a:latin typeface="Segoe UI"/>
              </a:rPr>
              <a:t>What we are asking for</a:t>
            </a:r>
          </a:p>
        </p:txBody>
      </p:sp>
      <p:sp>
        <p:nvSpPr>
          <p:cNvPr id="5" name="Rectangle 4"/>
          <p:cNvSpPr/>
          <p:nvPr/>
        </p:nvSpPr>
        <p:spPr>
          <a:xfrm>
            <a:off x="713232" y="1444752"/>
            <a:ext cx="91440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13232" y="1755648"/>
            <a:ext cx="10765231" cy="4416552"/>
          </a:xfrm>
          <a:prstGeom prst="rect">
            <a:avLst/>
          </a:prstGeom>
          <a:noFill/>
        </p:spPr>
        <p:txBody>
          <a:bodyPr wrap="square">
            <a:spAutoFit/>
          </a:bodyPr>
          <a:lstStyle/>
          <a:p>
            <a:pPr>
              <a:lnSpc>
                <a:spcPct val="118000"/>
              </a:lnSpc>
              <a:spcBef>
                <a:spcPts val="0"/>
              </a:spcBef>
              <a:spcAft>
                <a:spcPts val="0"/>
              </a:spcAft>
            </a:pPr>
            <a:r>
              <a:rPr sz="1600" b="1">
                <a:solidFill>
                  <a:srgbClr val="0B0B0B"/>
                </a:solidFill>
                <a:latin typeface="Segoe UI"/>
              </a:rPr>
              <a:t>·  Pilot on one queue, in shadow mode</a:t>
            </a:r>
          </a:p>
          <a:p>
            <a:pPr lvl="1">
              <a:lnSpc>
                <a:spcPct val="118000"/>
              </a:lnSpc>
              <a:spcBef>
                <a:spcPts val="200"/>
              </a:spcBef>
              <a:spcAft>
                <a:spcPts val="0"/>
              </a:spcAft>
            </a:pPr>
            <a:r>
              <a:rPr sz="1350" b="0">
                <a:solidFill>
                  <a:srgbClr val="52514E"/>
                </a:solidFill>
                <a:latin typeface="Segoe UI"/>
              </a:rPr>
              <a:t>Everything computes and nothing is emailed, so we can compare against your own judgement first.</a:t>
            </a:r>
          </a:p>
          <a:p>
            <a:pPr>
              <a:lnSpc>
                <a:spcPct val="118000"/>
              </a:lnSpc>
              <a:spcBef>
                <a:spcPts val="1300"/>
              </a:spcBef>
              <a:spcAft>
                <a:spcPts val="0"/>
              </a:spcAft>
            </a:pPr>
            <a:r>
              <a:rPr sz="1600" b="1">
                <a:solidFill>
                  <a:srgbClr val="0B0B0B"/>
                </a:solidFill>
                <a:latin typeface="Segoe UI"/>
              </a:rPr>
              <a:t>·  Two or three leads using the verdict buttons</a:t>
            </a:r>
          </a:p>
          <a:p>
            <a:pPr lvl="1">
              <a:lnSpc>
                <a:spcPct val="118000"/>
              </a:lnSpc>
              <a:spcBef>
                <a:spcPts val="200"/>
              </a:spcBef>
              <a:spcAft>
                <a:spcPts val="0"/>
              </a:spcAft>
            </a:pPr>
            <a:r>
              <a:rPr sz="1350" b="0">
                <a:solidFill>
                  <a:srgbClr val="52514E"/>
                </a:solidFill>
                <a:latin typeface="Segoe UI"/>
              </a:rPr>
              <a:t>Fifteen tickets a day is enough to produce a real agreement rate within a fortnight.</a:t>
            </a:r>
          </a:p>
          <a:p>
            <a:pPr>
              <a:lnSpc>
                <a:spcPct val="118000"/>
              </a:lnSpc>
              <a:spcBef>
                <a:spcPts val="1300"/>
              </a:spcBef>
              <a:spcAft>
                <a:spcPts val="0"/>
              </a:spcAft>
            </a:pPr>
            <a:r>
              <a:rPr sz="1600" b="1">
                <a:solidFill>
                  <a:srgbClr val="0B0B0B"/>
                </a:solidFill>
                <a:latin typeface="Segoe UI"/>
              </a:rPr>
              <a:t>·  Tell us where the ranking is wrong</a:t>
            </a:r>
          </a:p>
          <a:p>
            <a:pPr lvl="1">
              <a:lnSpc>
                <a:spcPct val="118000"/>
              </a:lnSpc>
              <a:spcBef>
                <a:spcPts val="200"/>
              </a:spcBef>
              <a:spcAft>
                <a:spcPts val="0"/>
              </a:spcAft>
            </a:pPr>
            <a:r>
              <a:rPr sz="1350" b="0">
                <a:solidFill>
                  <a:srgbClr val="52514E"/>
                </a:solidFill>
                <a:latin typeface="Segoe UI"/>
              </a:rPr>
              <a:t>The weights are configurable. If SLA risk matters more here than age, we change the numbers, not the argument.</a:t>
            </a:r>
          </a:p>
          <a:p>
            <a:pPr>
              <a:lnSpc>
                <a:spcPct val="118000"/>
              </a:lnSpc>
              <a:spcBef>
                <a:spcPts val="1300"/>
              </a:spcBef>
              <a:spcAft>
                <a:spcPts val="0"/>
              </a:spcAft>
            </a:pPr>
            <a:r>
              <a:rPr sz="1600" b="1">
                <a:solidFill>
                  <a:srgbClr val="0B0B0B"/>
                </a:solidFill>
                <a:latin typeface="Segoe UI"/>
              </a:rPr>
              <a:t>·  Then turn the digest on</a:t>
            </a:r>
          </a:p>
          <a:p>
            <a:pPr lvl="1">
              <a:lnSpc>
                <a:spcPct val="118000"/>
              </a:lnSpc>
              <a:spcBef>
                <a:spcPts val="200"/>
              </a:spcBef>
              <a:spcAft>
                <a:spcPts val="0"/>
              </a:spcAft>
            </a:pPr>
            <a:r>
              <a:rPr sz="1350" b="0">
                <a:solidFill>
                  <a:srgbClr val="52514E"/>
                </a:solidFill>
                <a:latin typeface="Segoe UI"/>
              </a:rPr>
              <a:t>Once the ranking looks right to the people who know the queue.</a:t>
            </a:r>
          </a:p>
        </p:txBody>
      </p:sp>
      <p:sp>
        <p:nvSpPr>
          <p:cNvPr id="7" name="TextBox 6"/>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Team introduction</a:t>
            </a:r>
          </a:p>
        </p:txBody>
      </p:sp>
      <p:sp>
        <p:nvSpPr>
          <p:cNvPr id="8" name="TextBox 7"/>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13232" y="1737360"/>
            <a:ext cx="50800" cy="30175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1737360"/>
            <a:ext cx="10033711" cy="3108960"/>
          </a:xfrm>
          <a:prstGeom prst="rect">
            <a:avLst/>
          </a:prstGeom>
          <a:noFill/>
        </p:spPr>
        <p:txBody>
          <a:bodyPr wrap="square">
            <a:spAutoFit/>
          </a:bodyPr>
          <a:lstStyle/>
          <a:p>
            <a:pPr>
              <a:lnSpc>
                <a:spcPct val="118000"/>
              </a:lnSpc>
              <a:spcBef>
                <a:spcPts val="0"/>
              </a:spcBef>
              <a:spcAft>
                <a:spcPts val="0"/>
              </a:spcAft>
            </a:pPr>
            <a:r>
              <a:rPr sz="1100" b="1">
                <a:solidFill>
                  <a:srgbClr val="2A78D6"/>
                </a:solidFill>
                <a:latin typeface="Segoe UI"/>
              </a:rPr>
              <a:t>IN ONE SENTENCE</a:t>
            </a:r>
          </a:p>
          <a:p>
            <a:pPr>
              <a:lnSpc>
                <a:spcPct val="118000"/>
              </a:lnSpc>
              <a:spcBef>
                <a:spcPts val="1400"/>
              </a:spcBef>
              <a:spcAft>
                <a:spcPts val="0"/>
              </a:spcAft>
            </a:pPr>
            <a:r>
              <a:rPr sz="3000" b="1">
                <a:solidFill>
                  <a:srgbClr val="0B0B0B"/>
                </a:solidFill>
                <a:latin typeface="Segoe UI"/>
              </a:rPr>
              <a:t>It reads the aged queue every ten minutes, works out which tickets are genuinely stuck and who owes the next action, ranks them, explains the ranking, and drafts what to do.</a:t>
            </a:r>
          </a:p>
          <a:p>
            <a:pPr>
              <a:lnSpc>
                <a:spcPct val="118000"/>
              </a:lnSpc>
              <a:spcBef>
                <a:spcPts val="1600"/>
              </a:spcBef>
              <a:spcAft>
                <a:spcPts val="0"/>
              </a:spcAft>
            </a:pPr>
            <a:r>
              <a:rPr sz="1500" b="0">
                <a:solidFill>
                  <a:srgbClr val="52514E"/>
                </a:solidFill>
                <a:latin typeface="Segoe UI"/>
              </a:rPr>
              <a:t>It never touches ServiceNow. Demo next.</a:t>
            </a:r>
          </a:p>
        </p:txBody>
      </p:sp>
      <p:sp>
        <p:nvSpPr>
          <p:cNvPr id="5" name="TextBox 4"/>
          <p:cNvSpPr txBox="1"/>
          <p:nvPr/>
        </p:nvSpPr>
        <p:spPr>
          <a:xfrm>
            <a:off x="713232" y="6437376"/>
            <a:ext cx="10765231" cy="274320"/>
          </a:xfrm>
          <a:prstGeom prst="rect">
            <a:avLst/>
          </a:prstGeom>
          <a:noFill/>
        </p:spPr>
        <p:txBody>
          <a:bodyPr wrap="square">
            <a:spAutoFit/>
          </a:bodyPr>
          <a:lstStyle/>
          <a:p>
            <a:r>
              <a:rPr sz="900">
                <a:solidFill>
                  <a:srgbClr val="898781"/>
                </a:solidFill>
                <a:latin typeface="Segoe UI"/>
              </a:rPr>
              <a:t>Aged Ticket Advisor  ·  Team introduction</a:t>
            </a:r>
          </a:p>
        </p:txBody>
      </p:sp>
      <p:sp>
        <p:nvSpPr>
          <p:cNvPr id="6" name="TextBox 5"/>
          <p:cNvSpPr txBox="1"/>
          <p:nvPr/>
        </p:nvSpPr>
        <p:spPr>
          <a:xfrm>
            <a:off x="10929823" y="6437376"/>
            <a:ext cx="548640" cy="274320"/>
          </a:xfrm>
          <a:prstGeom prst="rect">
            <a:avLst/>
          </a:prstGeom>
          <a:noFill/>
        </p:spPr>
        <p:txBody>
          <a:bodyPr wrap="square">
            <a:spAutoFit/>
          </a:bodyPr>
          <a:lstStyle/>
          <a:p>
            <a:pPr algn="r"/>
            <a:r>
              <a:rPr sz="900">
                <a:solidFill>
                  <a:srgbClr val="898781"/>
                </a:solidFill>
                <a:latin typeface="Segoe UI"/>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