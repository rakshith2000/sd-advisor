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deck to present end to end. Use the sections that match the question being asked.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row was a real defect found during build - the board kept showing tickets after they left our queues. Worth mentioning as evidence we test against reality.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one slide in this deck is worth reading, it is this one. Most tools of this kind get the idle clock wrong and report tickets that are in fact being progressed.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overrides: a caller who has already replied, and a dependency that has already closed. Both are cases where the hold reason is stale and the ticket is quietly 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change these for the pilot queue. They were chosen to be defensible, not to be right for every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will remember these. The point of showing them is that they exist in writing and are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"Why it ranks here" on the live ticket page at this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point on the right is cost control as well as stability: a ticket is only sent to the model when its content has actually 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dedupe is what makes these survivable. Without it this becomes a mail filter within a week.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explicitly for this during the pilot. Without verdicts there is no number, and without a number this is a matter of opinion in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False quiet is deliberately on this page. It is the metric that tells you the tool is missing things, and it is the one that would be easiest to omit.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if anyone from platform or security joins. Otherwise skip to access.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point exists because the user table is also the mail recipient list. A leaver who is not deactivated keeps receiving incident descriptions and caller names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a design principle rather than a feature list - an empty scope meaning "everything" is the kind of bug that only shows up in an audit.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"stop" is on the list. A pilot that can only succeed is not a pilot.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here and go to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4754880"/>
            <a:ext cx="12191695" cy="21031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13232" y="1371600"/>
            <a:ext cx="1280160"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737360"/>
            <a:ext cx="10765231" cy="2194560"/>
          </a:xfrm>
          <a:prstGeom prst="rect">
            <a:avLst/>
          </a:prstGeom>
          <a:noFill/>
        </p:spPr>
        <p:txBody>
          <a:bodyPr wrap="square">
            <a:spAutoFit/>
          </a:bodyPr>
          <a:lstStyle/>
          <a:p>
            <a:pPr>
              <a:lnSpc>
                <a:spcPct val="118000"/>
              </a:lnSpc>
              <a:spcBef>
                <a:spcPts val="0"/>
              </a:spcBef>
              <a:spcAft>
                <a:spcPts val="0"/>
              </a:spcAft>
            </a:pPr>
            <a:r>
              <a:rPr sz="4600" b="1">
                <a:solidFill>
                  <a:srgbClr val="FFFFFF"/>
                </a:solidFill>
                <a:latin typeface="Segoe UI"/>
              </a:rPr>
              <a:t>Aged Ticket Advisor</a:t>
            </a:r>
          </a:p>
          <a:p>
            <a:pPr>
              <a:lnSpc>
                <a:spcPct val="118000"/>
              </a:lnSpc>
              <a:spcBef>
                <a:spcPts val="1200"/>
              </a:spcBef>
              <a:spcAft>
                <a:spcPts val="0"/>
              </a:spcAft>
            </a:pPr>
            <a:r>
              <a:rPr sz="1900" b="0">
                <a:solidFill>
                  <a:srgbClr val="C3C2B7"/>
                </a:solidFill>
                <a:latin typeface="Segoe UI"/>
              </a:rPr>
              <a:t>Detailed walkthrough - signals, scoring, delivery and measurement</a:t>
            </a:r>
          </a:p>
        </p:txBody>
      </p:sp>
      <p:sp>
        <p:nvSpPr>
          <p:cNvPr id="6" name="TextBox 5"/>
          <p:cNvSpPr txBox="1"/>
          <p:nvPr/>
        </p:nvSpPr>
        <p:spPr>
          <a:xfrm>
            <a:off x="713232" y="5074920"/>
            <a:ext cx="9850831" cy="1371600"/>
          </a:xfrm>
          <a:prstGeom prst="rect">
            <a:avLst/>
          </a:prstGeom>
          <a:noFill/>
        </p:spPr>
        <p:txBody>
          <a:bodyPr wrap="square">
            <a:spAutoFit/>
          </a:bodyPr>
          <a:lstStyle/>
          <a:p>
            <a:pPr>
              <a:lnSpc>
                <a:spcPct val="118000"/>
              </a:lnSpc>
              <a:spcBef>
                <a:spcPts val="0"/>
              </a:spcBef>
              <a:spcAft>
                <a:spcPts val="0"/>
              </a:spcAft>
            </a:pPr>
            <a:r>
              <a:rPr sz="1400" b="0">
                <a:solidFill>
                  <a:srgbClr val="898781"/>
                </a:solidFill>
                <a:latin typeface="Segoe UI"/>
              </a:rPr>
              <a:t>Companion to the overview deck. Written for anyone who has to operate, audit or argue with this service.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01</a:t>
            </a:r>
          </a:p>
          <a:p>
            <a:pPr>
              <a:lnSpc>
                <a:spcPct val="118000"/>
              </a:lnSpc>
              <a:spcBef>
                <a:spcPts val="1000"/>
              </a:spcBef>
              <a:spcAft>
                <a:spcPts val="0"/>
              </a:spcAft>
            </a:pPr>
            <a:r>
              <a:rPr sz="3600" b="1">
                <a:solidFill>
                  <a:srgbClr val="0B0B0B"/>
                </a:solidFill>
                <a:latin typeface="Segoe UI"/>
              </a:rPr>
              <a:t>The problem, precisely</a:t>
            </a:r>
          </a:p>
          <a:p>
            <a:pPr>
              <a:lnSpc>
                <a:spcPct val="118000"/>
              </a:lnSpc>
              <a:spcBef>
                <a:spcPts val="1400"/>
              </a:spcBef>
              <a:spcAft>
                <a:spcPts val="0"/>
              </a:spcAft>
            </a:pPr>
            <a:r>
              <a:rPr sz="1500" b="0">
                <a:solidFill>
                  <a:srgbClr val="52514E"/>
                </a:solidFill>
                <a:latin typeface="Segoe UI"/>
              </a:rPr>
              <a:t>Why an aged list is not a work list</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Four failure modes a list view cannot show</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35204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Each of these is routine, and each needs the ticket history read to spot.</a:t>
            </a:r>
          </a:p>
        </p:txBody>
      </p:sp>
      <p:graphicFrame>
        <p:nvGraphicFramePr>
          <p:cNvPr id="6" name="Table 5"/>
          <p:cNvGraphicFramePr>
            <a:graphicFrameLocks noGrp="1"/>
          </p:cNvGraphicFramePr>
          <p:nvPr/>
        </p:nvGraphicFramePr>
        <p:xfrm>
          <a:off x="713232" y="1796796"/>
          <a:ext cx="10765230" cy="2414016"/>
        </p:xfrm>
        <a:graphic>
          <a:graphicData uri="http://schemas.openxmlformats.org/drawingml/2006/table">
            <a:tbl>
              <a:tblPr firstRow="1" bandRow="1">
                <a:tableStyleId>{5C22544A-7EE6-4342-B048-85BDC9FD1C3A}</a:tableStyleId>
              </a:tblPr>
              <a:tblGrid>
                <a:gridCol w="2798960"/>
                <a:gridCol w="3875483"/>
                <a:gridCol w="4090787"/>
              </a:tblGrid>
              <a:tr h="402336">
                <a:tc>
                  <a:txBody>
                    <a:bodyPr wrap="square"/>
                    <a:lstStyle/>
                    <a:p>
                      <a:pPr>
                        <a:lnSpc>
                          <a:spcPct val="118000"/>
                        </a:lnSpc>
                        <a:spcBef>
                          <a:spcPts val="0"/>
                        </a:spcBef>
                        <a:spcAft>
                          <a:spcPts val="0"/>
                        </a:spcAft>
                      </a:pPr>
                      <a:r>
                        <a:rPr sz="1150" b="1">
                          <a:solidFill>
                            <a:srgbClr val="FFFFFF"/>
                          </a:solidFill>
                          <a:latin typeface="Segoe UI"/>
                        </a:rPr>
                        <a:t>Situation</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How it looks in the queue</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What is actually true</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Caller answered a question</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Still "On Hold - Awaiting Caller"</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Ours, since the moment they replied</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Change or problem closed</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Still on hold for a dependency</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Nothing is blocking it</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SLA recalculation ran</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Updated minutes ago, looks active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No person has touched it in nine days</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Three follow-ups, no reply</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Open and ageing</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 documented closure candidate</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Reassigned to a queue we do not cover</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Still on our board</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Another team owns it now</a:t>
                      </a:r>
                    </a:p>
                  </a:txBody>
                  <a:tcPr anchor="ctr" marL="109728">
                    <a:solidFill>
                      <a:srgbClr val="FCFCFB"/>
                    </a:solidFill>
                  </a:tcPr>
                </a:tc>
              </a:tr>
            </a:tbl>
          </a:graphicData>
        </a:graphic>
      </p:graphicFrame>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THE DESIGN DECISION UNDERNEATH EVERYTHING</a:t>
            </a:r>
          </a:p>
          <a:p>
            <a:pPr>
              <a:lnSpc>
                <a:spcPct val="118000"/>
              </a:lnSpc>
              <a:spcBef>
                <a:spcPts val="1400"/>
              </a:spcBef>
              <a:spcAft>
                <a:spcPts val="0"/>
              </a:spcAft>
            </a:pPr>
            <a:r>
              <a:rPr sz="3000" b="1">
                <a:solidFill>
                  <a:srgbClr val="0B0B0B"/>
                </a:solidFill>
                <a:latin typeface="Segoe UI"/>
              </a:rPr>
              <a:t>Rank, do not list.</a:t>
            </a:r>
          </a:p>
          <a:p>
            <a:pPr>
              <a:lnSpc>
                <a:spcPct val="118000"/>
              </a:lnSpc>
              <a:spcBef>
                <a:spcPts val="1600"/>
              </a:spcBef>
              <a:spcAft>
                <a:spcPts val="0"/>
              </a:spcAft>
            </a:pPr>
            <a:r>
              <a:rPr sz="1500" b="0">
                <a:solidFill>
                  <a:srgbClr val="52514E"/>
                </a:solidFill>
                <a:latin typeface="Segoe UI"/>
              </a:rPr>
              <a:t>A list of 200 aged tickets is the problem restated. A ranked list where the top ten is the day's work is a different object - and it is only trustworthy if the ranking can be explained line by line.</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02</a:t>
            </a:r>
          </a:p>
          <a:p>
            <a:pPr>
              <a:lnSpc>
                <a:spcPct val="118000"/>
              </a:lnSpc>
              <a:spcBef>
                <a:spcPts val="1000"/>
              </a:spcBef>
              <a:spcAft>
                <a:spcPts val="0"/>
              </a:spcAft>
            </a:pPr>
            <a:r>
              <a:rPr sz="3600" b="1">
                <a:solidFill>
                  <a:srgbClr val="0B0B0B"/>
                </a:solidFill>
                <a:latin typeface="Segoe UI"/>
              </a:rPr>
              <a:t>What it measures</a:t>
            </a:r>
          </a:p>
          <a:p>
            <a:pPr>
              <a:lnSpc>
                <a:spcPct val="118000"/>
              </a:lnSpc>
              <a:spcBef>
                <a:spcPts val="1400"/>
              </a:spcBef>
              <a:spcAft>
                <a:spcPts val="0"/>
              </a:spcAft>
            </a:pPr>
            <a:r>
              <a:rPr sz="1500" b="0">
                <a:solidFill>
                  <a:srgbClr val="52514E"/>
                </a:solidFill>
                <a:latin typeface="Segoe UI"/>
              </a:rPr>
              <a:t>Deterministic signals, computed from ticket history</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SIGNAL 1</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idle clock, and why it is the hardest number</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Idle is not "time since last update"</a:t>
            </a:r>
          </a:p>
          <a:p>
            <a:pPr lvl="1">
              <a:lnSpc>
                <a:spcPct val="118000"/>
              </a:lnSpc>
              <a:spcBef>
                <a:spcPts val="200"/>
              </a:spcBef>
              <a:spcAft>
                <a:spcPts val="0"/>
              </a:spcAft>
            </a:pPr>
            <a:r>
              <a:rPr sz="1350" b="0">
                <a:solidFill>
                  <a:srgbClr val="52514E"/>
                </a:solidFill>
                <a:latin typeface="Segoe UI"/>
              </a:rPr>
              <a:t>ServiceNow updates a record for all sorts of reasons. Taking sys_updated_on at face value makes every stale ticket look worked.</a:t>
            </a:r>
          </a:p>
          <a:p>
            <a:pPr>
              <a:lnSpc>
                <a:spcPct val="118000"/>
              </a:lnSpc>
              <a:spcBef>
                <a:spcPts val="1300"/>
              </a:spcBef>
              <a:spcAft>
                <a:spcPts val="0"/>
              </a:spcAft>
            </a:pPr>
            <a:r>
              <a:rPr sz="1600" b="1">
                <a:solidFill>
                  <a:srgbClr val="0B0B0B"/>
                </a:solidFill>
                <a:latin typeface="Segoe UI"/>
              </a:rPr>
              <a:t>·  System accounts are excluded</a:t>
            </a:r>
          </a:p>
          <a:p>
            <a:pPr lvl="1">
              <a:lnSpc>
                <a:spcPct val="118000"/>
              </a:lnSpc>
              <a:spcBef>
                <a:spcPts val="200"/>
              </a:spcBef>
              <a:spcAft>
                <a:spcPts val="0"/>
              </a:spcAft>
            </a:pPr>
            <a:r>
              <a:rPr sz="1350" b="0">
                <a:solidFill>
                  <a:srgbClr val="52514E"/>
                </a:solidFill>
                <a:latin typeface="Segoe UI"/>
              </a:rPr>
              <a:t>Integration users, SLA engines and scheduled jobs do not reset the clock. Kohler's integration accounts end .rest, and that pattern is caught even when a new one is not yet configured.</a:t>
            </a:r>
          </a:p>
          <a:p>
            <a:pPr>
              <a:lnSpc>
                <a:spcPct val="118000"/>
              </a:lnSpc>
              <a:spcBef>
                <a:spcPts val="1300"/>
              </a:spcBef>
              <a:spcAft>
                <a:spcPts val="0"/>
              </a:spcAft>
            </a:pPr>
            <a:r>
              <a:rPr sz="1600" b="1">
                <a:solidFill>
                  <a:srgbClr val="0B0B0B"/>
                </a:solidFill>
                <a:latin typeface="Segoe UI"/>
              </a:rPr>
              <a:t>·  The caller's own updates are excluded</a:t>
            </a:r>
          </a:p>
          <a:p>
            <a:pPr lvl="1">
              <a:lnSpc>
                <a:spcPct val="118000"/>
              </a:lnSpc>
              <a:spcBef>
                <a:spcPts val="200"/>
              </a:spcBef>
              <a:spcAft>
                <a:spcPts val="0"/>
              </a:spcAft>
            </a:pPr>
            <a:r>
              <a:rPr sz="1350" b="0">
                <a:solidFill>
                  <a:srgbClr val="52514E"/>
                </a:solidFill>
                <a:latin typeface="Segoe UI"/>
              </a:rPr>
              <a:t>A caller replying does not mean the assigned team acted. It usually means the opposite.</a:t>
            </a:r>
          </a:p>
          <a:p>
            <a:pPr>
              <a:lnSpc>
                <a:spcPct val="118000"/>
              </a:lnSpc>
              <a:spcBef>
                <a:spcPts val="1300"/>
              </a:spcBef>
              <a:spcAft>
                <a:spcPts val="0"/>
              </a:spcAft>
            </a:pPr>
            <a:r>
              <a:rPr sz="1600" b="1">
                <a:solidFill>
                  <a:srgbClr val="0B0B0B"/>
                </a:solidFill>
                <a:latin typeface="Segoe UI"/>
              </a:rPr>
              <a:t>·  Field churn is excluded</a:t>
            </a:r>
          </a:p>
          <a:p>
            <a:pPr lvl="1">
              <a:lnSpc>
                <a:spcPct val="118000"/>
              </a:lnSpc>
              <a:spcBef>
                <a:spcPts val="200"/>
              </a:spcBef>
              <a:spcAft>
                <a:spcPts val="0"/>
              </a:spcAft>
            </a:pPr>
            <a:r>
              <a:rPr sz="1350" b="0">
                <a:solidFill>
                  <a:srgbClr val="52514E"/>
                </a:solidFill>
                <a:latin typeface="Segoe UI"/>
              </a:rPr>
              <a:t>Business duration, SLA due, mod count - all ignored.</a:t>
            </a:r>
          </a:p>
          <a:p>
            <a:pPr>
              <a:lnSpc>
                <a:spcPct val="118000"/>
              </a:lnSpc>
              <a:spcBef>
                <a:spcPts val="1300"/>
              </a:spcBef>
              <a:spcAft>
                <a:spcPts val="0"/>
              </a:spcAft>
            </a:pPr>
            <a:r>
              <a:rPr sz="1600" b="1">
                <a:solidFill>
                  <a:srgbClr val="0B0B0B"/>
                </a:solidFill>
                <a:latin typeface="Segoe UI"/>
              </a:rPr>
              <a:t>·  Never touched? The clock runs from creation</a:t>
            </a:r>
          </a:p>
          <a:p>
            <a:pPr lvl="1">
              <a:lnSpc>
                <a:spcPct val="118000"/>
              </a:lnSpc>
              <a:spcBef>
                <a:spcPts val="200"/>
              </a:spcBef>
              <a:spcAft>
                <a:spcPts val="0"/>
              </a:spcAft>
            </a:pPr>
            <a:r>
              <a:rPr sz="1350" b="0">
                <a:solidFill>
                  <a:srgbClr val="52514E"/>
                </a:solidFill>
                <a:latin typeface="Segoe UI"/>
              </a:rPr>
              <a:t>An untouched ticket is the worst case, not a missing value.</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SIGNAL 2</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Who owes the next action</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35204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Derived, not copied from the hold reason. Two rules override the stated reason, and both move the ticket back to us.</a:t>
            </a:r>
          </a:p>
        </p:txBody>
      </p:sp>
      <p:graphicFrame>
        <p:nvGraphicFramePr>
          <p:cNvPr id="7" name="Table 6"/>
          <p:cNvGraphicFramePr>
            <a:graphicFrameLocks noGrp="1"/>
          </p:cNvGraphicFramePr>
          <p:nvPr/>
        </p:nvGraphicFramePr>
        <p:xfrm>
          <a:off x="713232" y="2107692"/>
          <a:ext cx="10765230" cy="2816352"/>
        </p:xfrm>
        <a:graphic>
          <a:graphicData uri="http://schemas.openxmlformats.org/drawingml/2006/table">
            <a:tbl>
              <a:tblPr firstRow="1" bandRow="1">
                <a:tableStyleId>{5C22544A-7EE6-4342-B048-85BDC9FD1C3A}</a:tableStyleId>
              </a:tblPr>
              <a:tblGrid>
                <a:gridCol w="1937741"/>
                <a:gridCol w="3229569"/>
                <a:gridCol w="5597920"/>
              </a:tblGrid>
              <a:tr h="402336">
                <a:tc>
                  <a:txBody>
                    <a:bodyPr wrap="square"/>
                    <a:lstStyle/>
                    <a:p>
                      <a:pPr>
                        <a:lnSpc>
                          <a:spcPct val="118000"/>
                        </a:lnSpc>
                        <a:spcBef>
                          <a:spcPts val="0"/>
                        </a:spcBef>
                        <a:spcAft>
                          <a:spcPts val="0"/>
                        </a:spcAft>
                      </a:pPr>
                      <a:r>
                        <a:rPr sz="1150" b="1">
                          <a:solidFill>
                            <a:srgbClr val="FFFFFF"/>
                          </a:solidFill>
                          <a:latin typeface="Segoe UI"/>
                        </a:rPr>
                        <a:t>Value</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Means</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Set when</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Assigned team</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Ours to move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Default, and any time a blocker clears</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Caller</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Waiting on the user</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Hold reason says so AND they have not replied since</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Vendor</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Waiting on a third party</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Hold reason names a vendor or third party</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Change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Waiting on an RFC</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Hold reason names a change, and it is still open</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Problem</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Waiting on a problem record</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Hold reason names a problem, still open</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Approval</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Waiting on an approver</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Hold reason names approval</a:t>
                      </a:r>
                    </a:p>
                  </a:txBody>
                  <a:tcPr anchor="ctr" marL="109728">
                    <a:solidFill>
                      <a:srgbClr val="F9F9F7"/>
                    </a:solidFill>
                  </a:tcPr>
                </a:tc>
              </a:tr>
            </a:tbl>
          </a:graphicData>
        </a:graphic>
      </p:graphicFrame>
      <p:sp>
        <p:nvSpPr>
          <p:cNvPr id="8" name="TextBox 7"/>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9" name="TextBox 8"/>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SIGNALS 3-10</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rest of the signal set</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1920240"/>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Caller replied, unanswered</a:t>
            </a:r>
          </a:p>
          <a:p>
            <a:pPr>
              <a:lnSpc>
                <a:spcPct val="118000"/>
              </a:lnSpc>
              <a:spcBef>
                <a:spcPts val="600"/>
              </a:spcBef>
              <a:spcAft>
                <a:spcPts val="0"/>
              </a:spcAft>
            </a:pPr>
            <a:r>
              <a:rPr sz="1150" b="0">
                <a:solidFill>
                  <a:srgbClr val="52514E"/>
                </a:solidFill>
                <a:latin typeface="Segoe UI"/>
              </a:rPr>
              <a:t>The last substantive entry came from the caller. Overrides "Awaiting Caller" outright.</a:t>
            </a:r>
          </a:p>
        </p:txBody>
      </p:sp>
      <p:sp>
        <p:nvSpPr>
          <p:cNvPr id="9" name="Rounded Rectangle 8"/>
          <p:cNvSpPr/>
          <p:nvPr/>
        </p:nvSpPr>
        <p:spPr>
          <a:xfrm>
            <a:off x="4380890" y="1755648"/>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80890"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82058" y="1920240"/>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Dependency resolved</a:t>
            </a:r>
          </a:p>
          <a:p>
            <a:pPr>
              <a:lnSpc>
                <a:spcPct val="118000"/>
              </a:lnSpc>
              <a:spcBef>
                <a:spcPts val="600"/>
              </a:spcBef>
              <a:spcAft>
                <a:spcPts val="0"/>
              </a:spcAft>
            </a:pPr>
            <a:r>
              <a:rPr sz="1150" b="0">
                <a:solidFill>
                  <a:srgbClr val="52514E"/>
                </a:solidFill>
                <a:latin typeface="Segoe UI"/>
              </a:rPr>
              <a:t>The linked change or problem has reached a closed state while the incident is still held for it.</a:t>
            </a:r>
          </a:p>
        </p:txBody>
      </p:sp>
      <p:sp>
        <p:nvSpPr>
          <p:cNvPr id="12" name="Rounded Rectangle 11"/>
          <p:cNvSpPr/>
          <p:nvPr/>
        </p:nvSpPr>
        <p:spPr>
          <a:xfrm>
            <a:off x="8048548" y="1755648"/>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48548"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49716" y="1920240"/>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Follow-ups and silence</a:t>
            </a:r>
          </a:p>
          <a:p>
            <a:pPr>
              <a:lnSpc>
                <a:spcPct val="118000"/>
              </a:lnSpc>
              <a:spcBef>
                <a:spcPts val="600"/>
              </a:spcBef>
              <a:spcAft>
                <a:spcPts val="0"/>
              </a:spcAft>
            </a:pPr>
            <a:r>
              <a:rPr sz="1150" b="0">
                <a:solidFill>
                  <a:srgbClr val="52514E"/>
                </a:solidFill>
                <a:latin typeface="Segoe UI"/>
              </a:rPr>
              <a:t>Counts documented, customer-visible chase attempts and the gap since the last one.</a:t>
            </a:r>
          </a:p>
        </p:txBody>
      </p:sp>
      <p:sp>
        <p:nvSpPr>
          <p:cNvPr id="15" name="Rounded Rectangle 14"/>
          <p:cNvSpPr/>
          <p:nvPr/>
        </p:nvSpPr>
        <p:spPr>
          <a:xfrm>
            <a:off x="713232" y="3291840"/>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13232" y="329184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456432"/>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Closure candidate</a:t>
            </a:r>
          </a:p>
          <a:p>
            <a:pPr>
              <a:lnSpc>
                <a:spcPct val="118000"/>
              </a:lnSpc>
              <a:spcBef>
                <a:spcPts val="600"/>
              </a:spcBef>
              <a:spcAft>
                <a:spcPts val="0"/>
              </a:spcAft>
            </a:pPr>
            <a:r>
              <a:rPr sz="1150" b="0">
                <a:solidFill>
                  <a:srgbClr val="52514E"/>
                </a:solidFill>
                <a:latin typeface="Segoe UI"/>
              </a:rPr>
              <a:t>Three documented follow-ups and five days of silence, both configurable.</a:t>
            </a:r>
          </a:p>
        </p:txBody>
      </p:sp>
      <p:sp>
        <p:nvSpPr>
          <p:cNvPr id="18" name="Rounded Rectangle 17"/>
          <p:cNvSpPr/>
          <p:nvPr/>
        </p:nvSpPr>
        <p:spPr>
          <a:xfrm>
            <a:off x="4380890" y="3291840"/>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80890" y="329184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82058" y="3456432"/>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SLA position</a:t>
            </a:r>
          </a:p>
          <a:p>
            <a:pPr>
              <a:lnSpc>
                <a:spcPct val="118000"/>
              </a:lnSpc>
              <a:spcBef>
                <a:spcPts val="600"/>
              </a:spcBef>
              <a:spcAft>
                <a:spcPts val="0"/>
              </a:spcAft>
            </a:pPr>
            <a:r>
              <a:rPr sz="1150" b="0">
                <a:solidFill>
                  <a:srgbClr val="52514E"/>
                </a:solidFill>
                <a:latin typeface="Segoe UI"/>
              </a:rPr>
              <a:t>Breached, percent consumed, minutes left, projected breach time.</a:t>
            </a:r>
          </a:p>
        </p:txBody>
      </p:sp>
      <p:sp>
        <p:nvSpPr>
          <p:cNvPr id="21" name="Rounded Rectangle 20"/>
          <p:cNvSpPr/>
          <p:nvPr/>
        </p:nvSpPr>
        <p:spPr>
          <a:xfrm>
            <a:off x="8048548" y="3291840"/>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8548" y="329184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49716" y="3456432"/>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Duration overrun</a:t>
            </a:r>
          </a:p>
          <a:p>
            <a:pPr>
              <a:lnSpc>
                <a:spcPct val="118000"/>
              </a:lnSpc>
              <a:spcBef>
                <a:spcPts val="600"/>
              </a:spcBef>
              <a:spcAft>
                <a:spcPts val="0"/>
              </a:spcAft>
            </a:pPr>
            <a:r>
              <a:rPr sz="1150" b="0">
                <a:solidFill>
                  <a:srgbClr val="52514E"/>
                </a:solidFill>
                <a:latin typeface="Segoe UI"/>
              </a:rPr>
              <a:t>Past the 90th percentile for comparable incidents, from 180 days of resolved history.</a:t>
            </a:r>
          </a:p>
        </p:txBody>
      </p:sp>
      <p:sp>
        <p:nvSpPr>
          <p:cNvPr id="24" name="Rounded Rectangle 23"/>
          <p:cNvSpPr/>
          <p:nvPr/>
        </p:nvSpPr>
        <p:spPr>
          <a:xfrm>
            <a:off x="713232" y="4828032"/>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13232" y="482803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14400" y="4992624"/>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Knowledge gap</a:t>
            </a:r>
          </a:p>
          <a:p>
            <a:pPr>
              <a:lnSpc>
                <a:spcPct val="118000"/>
              </a:lnSpc>
              <a:spcBef>
                <a:spcPts val="600"/>
              </a:spcBef>
              <a:spcAft>
                <a:spcPts val="0"/>
              </a:spcAft>
            </a:pPr>
            <a:r>
              <a:rPr sz="1150" b="0">
                <a:solidFill>
                  <a:srgbClr val="52514E"/>
                </a:solidFill>
                <a:latin typeface="Segoe UI"/>
              </a:rPr>
              <a:t>A relevant article exists and is not attached.</a:t>
            </a:r>
          </a:p>
        </p:txBody>
      </p:sp>
      <p:sp>
        <p:nvSpPr>
          <p:cNvPr id="27" name="Rounded Rectangle 26"/>
          <p:cNvSpPr/>
          <p:nvPr/>
        </p:nvSpPr>
        <p:spPr>
          <a:xfrm>
            <a:off x="4380890" y="4828032"/>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380890" y="482803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82058" y="4992624"/>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Churn</a:t>
            </a:r>
          </a:p>
          <a:p>
            <a:pPr>
              <a:lnSpc>
                <a:spcPct val="118000"/>
              </a:lnSpc>
              <a:spcBef>
                <a:spcPts val="600"/>
              </a:spcBef>
              <a:spcAft>
                <a:spcPts val="0"/>
              </a:spcAft>
            </a:pPr>
            <a:r>
              <a:rPr sz="1150" b="0">
                <a:solidFill>
                  <a:srgbClr val="52514E"/>
                </a:solidFill>
                <a:latin typeface="Segoe UI"/>
              </a:rPr>
              <a:t>Reassignment and reopen counts.</a:t>
            </a:r>
          </a:p>
        </p:txBody>
      </p:sp>
      <p:sp>
        <p:nvSpPr>
          <p:cNvPr id="30" name="Rounded Rectangle 29"/>
          <p:cNvSpPr/>
          <p:nvPr/>
        </p:nvSpPr>
        <p:spPr>
          <a:xfrm>
            <a:off x="8048548" y="4828032"/>
            <a:ext cx="3429914" cy="129844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048548" y="482803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49716" y="4992624"/>
            <a:ext cx="3027578" cy="102412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Activity stream</a:t>
            </a:r>
          </a:p>
          <a:p>
            <a:pPr>
              <a:lnSpc>
                <a:spcPct val="118000"/>
              </a:lnSpc>
              <a:spcBef>
                <a:spcPts val="600"/>
              </a:spcBef>
              <a:spcAft>
                <a:spcPts val="0"/>
              </a:spcAft>
            </a:pPr>
            <a:r>
              <a:rPr sz="1150" b="0">
                <a:solidFill>
                  <a:srgbClr val="52514E"/>
                </a:solidFill>
                <a:latin typeface="Segoe UI"/>
              </a:rPr>
              <a:t>Grouped the way ServiceNow groups it - one card per save, not one line per field.</a:t>
            </a:r>
          </a:p>
        </p:txBody>
      </p:sp>
      <p:sp>
        <p:nvSpPr>
          <p:cNvPr id="33" name="TextBox 32"/>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34" name="TextBox 33"/>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TUNING</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Thresholds, and what each one changes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35204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All configurable per deployment. These are the shipped defaults.</a:t>
            </a:r>
          </a:p>
        </p:txBody>
      </p:sp>
      <p:graphicFrame>
        <p:nvGraphicFramePr>
          <p:cNvPr id="7" name="Table 6"/>
          <p:cNvGraphicFramePr>
            <a:graphicFrameLocks noGrp="1"/>
          </p:cNvGraphicFramePr>
          <p:nvPr/>
        </p:nvGraphicFramePr>
        <p:xfrm>
          <a:off x="713232" y="2107692"/>
          <a:ext cx="10765229" cy="3218688"/>
        </p:xfrm>
        <a:graphic>
          <a:graphicData uri="http://schemas.openxmlformats.org/drawingml/2006/table">
            <a:tbl>
              <a:tblPr firstRow="1" bandRow="1">
                <a:tableStyleId>{5C22544A-7EE6-4342-B048-85BDC9FD1C3A}</a:tableStyleId>
              </a:tblPr>
              <a:tblGrid>
                <a:gridCol w="3444873"/>
                <a:gridCol w="1291827"/>
                <a:gridCol w="6028529"/>
              </a:tblGrid>
              <a:tr h="402336">
                <a:tc>
                  <a:txBody>
                    <a:bodyPr wrap="square"/>
                    <a:lstStyle/>
                    <a:p>
                      <a:pPr>
                        <a:lnSpc>
                          <a:spcPct val="118000"/>
                        </a:lnSpc>
                        <a:spcBef>
                          <a:spcPts val="0"/>
                        </a:spcBef>
                        <a:spcAft>
                          <a:spcPts val="0"/>
                        </a:spcAft>
                      </a:pPr>
                      <a:r>
                        <a:rPr sz="1150" b="1">
                          <a:solidFill>
                            <a:srgbClr val="FFFFFF"/>
                          </a:solidFill>
                          <a:latin typeface="Segoe UI"/>
                        </a:rPr>
                        <a:t>Setting</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Default</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What it controls</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aged_after_days</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5</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When a ticket enters the board at all</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inactivity_days</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2</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When "no recent activity" is flagged</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prolonged_inactivity_days</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4</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Prolonged inactivity flag, and the inactivity score ceiling</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sla_risk_pct</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75</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Percent consumed at which SLA risk is flagged</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closure_followup_count</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3</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Documented chases needed for a closure candidate</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closure_silence_days</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5</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Caller silence needed alongside them</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digest_max_tickets_per_agent</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25</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Cap on an individual agent digest</a:t>
                      </a:r>
                    </a:p>
                  </a:txBody>
                  <a:tcPr anchor="ctr" marL="109728">
                    <a:solidFill>
                      <a:srgbClr val="FCFCFB"/>
                    </a:solidFill>
                  </a:tcPr>
                </a:tc>
              </a:tr>
            </a:tbl>
          </a:graphicData>
        </a:graphic>
      </p:graphicFrame>
      <p:sp>
        <p:nvSpPr>
          <p:cNvPr id="8" name="TextBox 7"/>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9" name="TextBox 8"/>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03</a:t>
            </a:r>
          </a:p>
          <a:p>
            <a:pPr>
              <a:lnSpc>
                <a:spcPct val="118000"/>
              </a:lnSpc>
              <a:spcBef>
                <a:spcPts val="1000"/>
              </a:spcBef>
              <a:spcAft>
                <a:spcPts val="0"/>
              </a:spcAft>
            </a:pPr>
            <a:r>
              <a:rPr sz="3600" b="1">
                <a:solidFill>
                  <a:srgbClr val="0B0B0B"/>
                </a:solidFill>
                <a:latin typeface="Segoe UI"/>
              </a:rPr>
              <a:t>The attention score</a:t>
            </a:r>
          </a:p>
          <a:p>
            <a:pPr>
              <a:lnSpc>
                <a:spcPct val="118000"/>
              </a:lnSpc>
              <a:spcBef>
                <a:spcPts val="1400"/>
              </a:spcBef>
              <a:spcAft>
                <a:spcPts val="0"/>
              </a:spcAft>
            </a:pPr>
            <a:r>
              <a:rPr sz="1500" b="0">
                <a:solidFill>
                  <a:srgbClr val="52514E"/>
                </a:solidFill>
                <a:latin typeface="Segoe UI"/>
              </a:rPr>
              <a:t>Why a ticket is where it is in the list</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Seven components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359664"/>
          </a:xfrm>
          <a:prstGeom prst="rect">
            <a:avLst/>
          </a:prstGeom>
          <a:noFill/>
        </p:spPr>
        <p:txBody>
          <a:bodyPr wrap="square">
            <a:spAutoFit/>
          </a:bodyPr>
          <a:lstStyle/>
          <a:p>
            <a:pPr>
              <a:lnSpc>
                <a:spcPct val="118000"/>
              </a:lnSpc>
              <a:spcBef>
                <a:spcPts val="0"/>
              </a:spcBef>
              <a:spcAft>
                <a:spcPts val="0"/>
              </a:spcAft>
            </a:pPr>
            <a:r>
              <a:rPr sz="1400" b="0">
                <a:solidFill>
                  <a:srgbClr val="52514E"/>
                </a:solidFill>
                <a:latin typeface="Segoe UI"/>
              </a:rPr>
              <a:t>Each component is normalised to 0-100, multiplied by its weight, and summed. Nothing else contributes.</a:t>
            </a:r>
          </a:p>
        </p:txBody>
      </p:sp>
      <p:sp>
        <p:nvSpPr>
          <p:cNvPr id="6" name="TextBox 5"/>
          <p:cNvSpPr txBox="1"/>
          <p:nvPr/>
        </p:nvSpPr>
        <p:spPr>
          <a:xfrm>
            <a:off x="713232" y="1804416"/>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SLA risk</a:t>
            </a:r>
          </a:p>
        </p:txBody>
      </p:sp>
      <p:sp>
        <p:nvSpPr>
          <p:cNvPr id="7" name="Rectangle 6"/>
          <p:cNvSpPr/>
          <p:nvPr/>
        </p:nvSpPr>
        <p:spPr>
          <a:xfrm>
            <a:off x="3044952" y="1895856"/>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3044952" y="1895856"/>
            <a:ext cx="2834640"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07608" y="1804416"/>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25</a:t>
            </a:r>
          </a:p>
        </p:txBody>
      </p:sp>
      <p:sp>
        <p:nvSpPr>
          <p:cNvPr id="10" name="TextBox 9"/>
          <p:cNvSpPr txBox="1"/>
          <p:nvPr/>
        </p:nvSpPr>
        <p:spPr>
          <a:xfrm>
            <a:off x="6592824" y="1804416"/>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close the resolution SLA is to breaching</a:t>
            </a:r>
          </a:p>
        </p:txBody>
      </p:sp>
      <p:sp>
        <p:nvSpPr>
          <p:cNvPr id="11" name="TextBox 10"/>
          <p:cNvSpPr txBox="1"/>
          <p:nvPr/>
        </p:nvSpPr>
        <p:spPr>
          <a:xfrm>
            <a:off x="713232" y="2279904"/>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Inactivity duration</a:t>
            </a:r>
          </a:p>
        </p:txBody>
      </p:sp>
      <p:sp>
        <p:nvSpPr>
          <p:cNvPr id="12" name="Rectangle 11"/>
          <p:cNvSpPr/>
          <p:nvPr/>
        </p:nvSpPr>
        <p:spPr>
          <a:xfrm>
            <a:off x="3044952" y="2371344"/>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044952" y="2371344"/>
            <a:ext cx="2834640"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07608" y="2279904"/>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25</a:t>
            </a:r>
          </a:p>
        </p:txBody>
      </p:sp>
      <p:sp>
        <p:nvSpPr>
          <p:cNvPr id="15" name="TextBox 14"/>
          <p:cNvSpPr txBox="1"/>
          <p:nvPr/>
        </p:nvSpPr>
        <p:spPr>
          <a:xfrm>
            <a:off x="6592824" y="2279904"/>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Time since the last real action by the assigned team</a:t>
            </a:r>
          </a:p>
        </p:txBody>
      </p:sp>
      <p:sp>
        <p:nvSpPr>
          <p:cNvPr id="16" name="TextBox 15"/>
          <p:cNvSpPr txBox="1"/>
          <p:nvPr/>
        </p:nvSpPr>
        <p:spPr>
          <a:xfrm>
            <a:off x="713232" y="2755392"/>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Unactioned delay</a:t>
            </a:r>
          </a:p>
        </p:txBody>
      </p:sp>
      <p:sp>
        <p:nvSpPr>
          <p:cNvPr id="17" name="Rectangle 16"/>
          <p:cNvSpPr/>
          <p:nvPr/>
        </p:nvSpPr>
        <p:spPr>
          <a:xfrm>
            <a:off x="3044952" y="2846832"/>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044952" y="2846832"/>
            <a:ext cx="1700784"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07608" y="2755392"/>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15</a:t>
            </a:r>
          </a:p>
        </p:txBody>
      </p:sp>
      <p:sp>
        <p:nvSpPr>
          <p:cNvPr id="20" name="TextBox 19"/>
          <p:cNvSpPr txBox="1"/>
          <p:nvPr/>
        </p:nvSpPr>
        <p:spPr>
          <a:xfrm>
            <a:off x="6592824" y="2755392"/>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Caller replied and nobody answered; dependency already closed</a:t>
            </a:r>
          </a:p>
        </p:txBody>
      </p:sp>
      <p:sp>
        <p:nvSpPr>
          <p:cNvPr id="21" name="TextBox 20"/>
          <p:cNvSpPr txBox="1"/>
          <p:nvPr/>
        </p:nvSpPr>
        <p:spPr>
          <a:xfrm>
            <a:off x="713232" y="3230880"/>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Ticket age</a:t>
            </a:r>
          </a:p>
        </p:txBody>
      </p:sp>
      <p:sp>
        <p:nvSpPr>
          <p:cNvPr id="22" name="Rectangle 21"/>
          <p:cNvSpPr/>
          <p:nvPr/>
        </p:nvSpPr>
        <p:spPr>
          <a:xfrm>
            <a:off x="3044952" y="3322320"/>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044952" y="3322320"/>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07608" y="3230880"/>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25" name="TextBox 24"/>
          <p:cNvSpPr txBox="1"/>
          <p:nvPr/>
        </p:nvSpPr>
        <p:spPr>
          <a:xfrm>
            <a:off x="6592824" y="3230880"/>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far past the aged threshold the incident is</a:t>
            </a:r>
          </a:p>
        </p:txBody>
      </p:sp>
      <p:sp>
        <p:nvSpPr>
          <p:cNvPr id="26" name="TextBox 25"/>
          <p:cNvSpPr txBox="1"/>
          <p:nvPr/>
        </p:nvSpPr>
        <p:spPr>
          <a:xfrm>
            <a:off x="713232" y="3706368"/>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Business priority</a:t>
            </a:r>
          </a:p>
        </p:txBody>
      </p:sp>
      <p:sp>
        <p:nvSpPr>
          <p:cNvPr id="27" name="Rectangle 26"/>
          <p:cNvSpPr/>
          <p:nvPr/>
        </p:nvSpPr>
        <p:spPr>
          <a:xfrm>
            <a:off x="3044952" y="3797808"/>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044952" y="3797808"/>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007608" y="3706368"/>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30" name="TextBox 29"/>
          <p:cNvSpPr txBox="1"/>
          <p:nvPr/>
        </p:nvSpPr>
        <p:spPr>
          <a:xfrm>
            <a:off x="6592824" y="3706368"/>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Priority and impact of the incident</a:t>
            </a:r>
          </a:p>
        </p:txBody>
      </p:sp>
      <p:sp>
        <p:nvSpPr>
          <p:cNvPr id="31" name="TextBox 30"/>
          <p:cNvSpPr txBox="1"/>
          <p:nvPr/>
        </p:nvSpPr>
        <p:spPr>
          <a:xfrm>
            <a:off x="713232" y="4181856"/>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Duration overrun</a:t>
            </a:r>
          </a:p>
        </p:txBody>
      </p:sp>
      <p:sp>
        <p:nvSpPr>
          <p:cNvPr id="32" name="Rectangle 31"/>
          <p:cNvSpPr/>
          <p:nvPr/>
        </p:nvSpPr>
        <p:spPr>
          <a:xfrm>
            <a:off x="3044952" y="4273296"/>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044952" y="4273296"/>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007608" y="4181856"/>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35" name="TextBox 34"/>
          <p:cNvSpPr txBox="1"/>
          <p:nvPr/>
        </p:nvSpPr>
        <p:spPr>
          <a:xfrm>
            <a:off x="6592824" y="4181856"/>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Past the 90th percentile for comparable incidents</a:t>
            </a:r>
          </a:p>
        </p:txBody>
      </p:sp>
      <p:sp>
        <p:nvSpPr>
          <p:cNvPr id="36" name="TextBox 35"/>
          <p:cNvSpPr txBox="1"/>
          <p:nvPr/>
        </p:nvSpPr>
        <p:spPr>
          <a:xfrm>
            <a:off x="713232" y="4657344"/>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Reassignment activity</a:t>
            </a:r>
          </a:p>
        </p:txBody>
      </p:sp>
      <p:sp>
        <p:nvSpPr>
          <p:cNvPr id="37" name="Rectangle 36"/>
          <p:cNvSpPr/>
          <p:nvPr/>
        </p:nvSpPr>
        <p:spPr>
          <a:xfrm>
            <a:off x="3044952" y="4748784"/>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044952" y="4748784"/>
            <a:ext cx="566928"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007608" y="4657344"/>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5</a:t>
            </a:r>
          </a:p>
        </p:txBody>
      </p:sp>
      <p:sp>
        <p:nvSpPr>
          <p:cNvPr id="40" name="TextBox 39"/>
          <p:cNvSpPr txBox="1"/>
          <p:nvPr/>
        </p:nvSpPr>
        <p:spPr>
          <a:xfrm>
            <a:off x="6592824" y="4657344"/>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often it has been passed around or reopened</a:t>
            </a:r>
          </a:p>
        </p:txBody>
      </p:sp>
      <p:sp>
        <p:nvSpPr>
          <p:cNvPr id="41" name="Rectangle 40"/>
          <p:cNvSpPr/>
          <p:nvPr/>
        </p:nvSpPr>
        <p:spPr>
          <a:xfrm>
            <a:off x="713232" y="5224272"/>
            <a:ext cx="10765231" cy="1270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13232" y="5297424"/>
            <a:ext cx="10765231" cy="365760"/>
          </a:xfrm>
          <a:prstGeom prst="rect">
            <a:avLst/>
          </a:prstGeom>
          <a:noFill/>
        </p:spPr>
        <p:txBody>
          <a:bodyPr wrap="square">
            <a:spAutoFit/>
          </a:bodyPr>
          <a:lstStyle/>
          <a:p>
            <a:pPr>
              <a:lnSpc>
                <a:spcPct val="118000"/>
              </a:lnSpc>
              <a:spcBef>
                <a:spcPts val="0"/>
              </a:spcBef>
              <a:spcAft>
                <a:spcPts val="0"/>
              </a:spcAft>
            </a:pPr>
            <a:r>
              <a:rPr sz="1200" b="1">
                <a:solidFill>
                  <a:srgbClr val="0B0B0B"/>
                </a:solidFill>
                <a:latin typeface="Segoe UI"/>
              </a:rPr>
              <a:t>Total  100   ·   must sum to 100, or the service reverts to these defaults and logs it</a:t>
            </a:r>
          </a:p>
        </p:txBody>
      </p:sp>
      <p:sp>
        <p:nvSpPr>
          <p:cNvPr id="43" name="TextBox 42"/>
          <p:cNvSpPr txBox="1"/>
          <p:nvPr/>
        </p:nvSpPr>
        <p:spPr>
          <a:xfrm>
            <a:off x="713232" y="5699760"/>
            <a:ext cx="10765231" cy="640080"/>
          </a:xfrm>
          <a:prstGeom prst="rect">
            <a:avLst/>
          </a:prstGeom>
          <a:noFill/>
        </p:spPr>
        <p:txBody>
          <a:bodyPr wrap="square">
            <a:spAutoFit/>
          </a:bodyPr>
          <a:lstStyle/>
          <a:p>
            <a:pPr>
              <a:lnSpc>
                <a:spcPct val="118000"/>
              </a:lnSpc>
              <a:spcBef>
                <a:spcPts val="0"/>
              </a:spcBef>
              <a:spcAft>
                <a:spcPts val="0"/>
              </a:spcAft>
            </a:pPr>
            <a:r>
              <a:rPr sz="1250" b="0">
                <a:solidFill>
                  <a:srgbClr val="52514E"/>
                </a:solidFill>
                <a:latin typeface="Segoe UI"/>
              </a:rPr>
              <a:t>Editable in the UI by an administrator. If an edit leaves the total at anything other than 100, the service reverts to these defaults and writes a warning - an incomplete edit cannot silently distort every score on the board.</a:t>
            </a:r>
          </a:p>
        </p:txBody>
      </p:sp>
      <p:sp>
        <p:nvSpPr>
          <p:cNvPr id="44" name="TextBox 43"/>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45" name="TextBox 44"/>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ARITHMETIC</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How each component is calculated</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400" b="0">
                <a:solidFill>
                  <a:srgbClr val="0B0B0B"/>
                </a:solidFill>
                <a:latin typeface="Segoe UI"/>
              </a:rPr>
              <a:t>·  SLA risk - breached scores 100; otherwise percent consumed, falling back to a time-remaining band when no percentage exists.</a:t>
            </a:r>
          </a:p>
          <a:p>
            <a:pPr>
              <a:lnSpc>
                <a:spcPct val="118000"/>
              </a:lnSpc>
              <a:spcBef>
                <a:spcPts val="1000"/>
              </a:spcBef>
              <a:spcAft>
                <a:spcPts val="0"/>
              </a:spcAft>
            </a:pPr>
            <a:r>
              <a:rPr sz="1400" b="0">
                <a:solidFill>
                  <a:srgbClr val="0B0B0B"/>
                </a:solidFill>
                <a:latin typeface="Segoe UI"/>
              </a:rPr>
              <a:t>·  Inactivity - linear to the prolonged-inactivity threshold, then saturated at 100.</a:t>
            </a:r>
          </a:p>
          <a:p>
            <a:pPr>
              <a:lnSpc>
                <a:spcPct val="118000"/>
              </a:lnSpc>
              <a:spcBef>
                <a:spcPts val="1000"/>
              </a:spcBef>
              <a:spcAft>
                <a:spcPts val="0"/>
              </a:spcAft>
            </a:pPr>
            <a:r>
              <a:rPr sz="1400" b="0">
                <a:solidFill>
                  <a:srgbClr val="0B0B0B"/>
                </a:solidFill>
                <a:latin typeface="Segoe UI"/>
              </a:rPr>
              <a:t>·  Ticket age - zero until the aged threshold, then linear; one further threshold-width past it reaches 100.</a:t>
            </a:r>
          </a:p>
          <a:p>
            <a:pPr>
              <a:lnSpc>
                <a:spcPct val="118000"/>
              </a:lnSpc>
              <a:spcBef>
                <a:spcPts val="1000"/>
              </a:spcBef>
              <a:spcAft>
                <a:spcPts val="0"/>
              </a:spcAft>
            </a:pPr>
            <a:r>
              <a:rPr sz="1400" b="0">
                <a:solidFill>
                  <a:srgbClr val="0B0B0B"/>
                </a:solidFill>
                <a:latin typeface="Segoe UI"/>
              </a:rPr>
              <a:t>·  Business priority - P1 scores 100, P2 80, P3 50, P4 25, P5 10.</a:t>
            </a:r>
          </a:p>
          <a:p>
            <a:pPr>
              <a:lnSpc>
                <a:spcPct val="118000"/>
              </a:lnSpc>
              <a:spcBef>
                <a:spcPts val="1000"/>
              </a:spcBef>
              <a:spcAft>
                <a:spcPts val="0"/>
              </a:spcAft>
            </a:pPr>
            <a:r>
              <a:rPr sz="1400" b="0">
                <a:solidFill>
                  <a:srgbClr val="0B0B0B"/>
                </a:solidFill>
                <a:latin typeface="Segoe UI"/>
              </a:rPr>
              <a:t>·  Reassignment activity - 20 points per reassignment, 30 per reopen, capped at 100.</a:t>
            </a:r>
          </a:p>
          <a:p>
            <a:pPr>
              <a:lnSpc>
                <a:spcPct val="118000"/>
              </a:lnSpc>
              <a:spcBef>
                <a:spcPts val="1000"/>
              </a:spcBef>
              <a:spcAft>
                <a:spcPts val="0"/>
              </a:spcAft>
            </a:pPr>
            <a:r>
              <a:rPr sz="1400" b="0">
                <a:solidFill>
                  <a:srgbClr val="0B0B0B"/>
                </a:solidFill>
                <a:latin typeface="Segoe UI"/>
              </a:rPr>
              <a:t>·  Unactioned delay - 60 for an unanswered caller, plus points for a cleared dependency and a documented closure candidate.</a:t>
            </a:r>
          </a:p>
          <a:p>
            <a:pPr>
              <a:lnSpc>
                <a:spcPct val="118000"/>
              </a:lnSpc>
              <a:spcBef>
                <a:spcPts val="1000"/>
              </a:spcBef>
              <a:spcAft>
                <a:spcPts val="0"/>
              </a:spcAft>
            </a:pPr>
            <a:r>
              <a:rPr sz="1400" b="0">
                <a:solidFill>
                  <a:srgbClr val="0B0B0B"/>
                </a:solidFill>
                <a:latin typeface="Segoe UI"/>
              </a:rPr>
              <a:t>·  Duration overrun - set when past the p90 for comparable incidents.</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THE PROPERTY THAT MATTERS</a:t>
            </a:r>
          </a:p>
          <a:p>
            <a:pPr>
              <a:lnSpc>
                <a:spcPct val="118000"/>
              </a:lnSpc>
              <a:spcBef>
                <a:spcPts val="1400"/>
              </a:spcBef>
              <a:spcAft>
                <a:spcPts val="0"/>
              </a:spcAft>
            </a:pPr>
            <a:r>
              <a:rPr sz="3000" b="1">
                <a:solidFill>
                  <a:srgbClr val="0B0B0B"/>
                </a:solidFill>
                <a:latin typeface="Segoe UI"/>
              </a:rPr>
              <a:t>Every point on the board is attributable to a named component.</a:t>
            </a:r>
          </a:p>
          <a:p>
            <a:pPr>
              <a:lnSpc>
                <a:spcPct val="118000"/>
              </a:lnSpc>
              <a:spcBef>
                <a:spcPts val="1600"/>
              </a:spcBef>
              <a:spcAft>
                <a:spcPts val="0"/>
              </a:spcAft>
            </a:pPr>
            <a:r>
              <a:rPr sz="1500" b="0">
                <a:solidFill>
                  <a:srgbClr val="52514E"/>
                </a:solidFill>
                <a:latin typeface="Segoe UI"/>
              </a:rPr>
              <a:t>A lead who asks "why is this one top?" gets a breakdown - 11.3 of 25 for inactivity, 9.4 of 25 for SLA risk - rather than a model's opinion. That is the difference between a tool a team tunes and a tool a team works around.</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04</a:t>
            </a:r>
          </a:p>
          <a:p>
            <a:pPr>
              <a:lnSpc>
                <a:spcPct val="118000"/>
              </a:lnSpc>
              <a:spcBef>
                <a:spcPts val="1000"/>
              </a:spcBef>
              <a:spcAft>
                <a:spcPts val="0"/>
              </a:spcAft>
            </a:pPr>
            <a:r>
              <a:rPr sz="3600" b="1">
                <a:solidFill>
                  <a:srgbClr val="0B0B0B"/>
                </a:solidFill>
                <a:latin typeface="Segoe UI"/>
              </a:rPr>
              <a:t>The language model</a:t>
            </a:r>
          </a:p>
          <a:p>
            <a:pPr>
              <a:lnSpc>
                <a:spcPct val="118000"/>
              </a:lnSpc>
              <a:spcBef>
                <a:spcPts val="1400"/>
              </a:spcBef>
              <a:spcAft>
                <a:spcPts val="0"/>
              </a:spcAft>
            </a:pPr>
            <a:r>
              <a:rPr sz="1500" b="0">
                <a:solidFill>
                  <a:srgbClr val="52514E"/>
                </a:solidFill>
                <a:latin typeface="Segoe UI"/>
              </a:rPr>
              <a:t>A narrow job, tightly bounded</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it is asked to produce</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35204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A fixed schema, validated on the way back. Free text is limited to the rationale and the two drafts.</a:t>
            </a:r>
          </a:p>
        </p:txBody>
      </p:sp>
      <p:graphicFrame>
        <p:nvGraphicFramePr>
          <p:cNvPr id="6" name="Table 5"/>
          <p:cNvGraphicFramePr>
            <a:graphicFrameLocks noGrp="1"/>
          </p:cNvGraphicFramePr>
          <p:nvPr/>
        </p:nvGraphicFramePr>
        <p:xfrm>
          <a:off x="713232" y="1796796"/>
          <a:ext cx="10765230" cy="3218688"/>
        </p:xfrm>
        <a:graphic>
          <a:graphicData uri="http://schemas.openxmlformats.org/drawingml/2006/table">
            <a:tbl>
              <a:tblPr firstRow="1" bandRow="1">
                <a:tableStyleId>{5C22544A-7EE6-4342-B048-85BDC9FD1C3A}</a:tableStyleId>
              </a:tblPr>
              <a:tblGrid>
                <a:gridCol w="2798960"/>
                <a:gridCol w="7966270"/>
              </a:tblGrid>
              <a:tr h="402336">
                <a:tc>
                  <a:txBody>
                    <a:bodyPr wrap="square"/>
                    <a:lstStyle/>
                    <a:p>
                      <a:pPr>
                        <a:lnSpc>
                          <a:spcPct val="118000"/>
                        </a:lnSpc>
                        <a:spcBef>
                          <a:spcPts val="0"/>
                        </a:spcBef>
                        <a:spcAft>
                          <a:spcPts val="0"/>
                        </a:spcAft>
                      </a:pPr>
                      <a:r>
                        <a:rPr sz="1150" b="1">
                          <a:solidFill>
                            <a:srgbClr val="FFFFFF"/>
                          </a:solidFill>
                          <a:latin typeface="Segoe UI"/>
                        </a:rPr>
                        <a:t>Output</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Used for</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Recommended action</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One of 8 fixed values - resolve, follow up, chase vendor, reassign, escalate, await dependency, close stale, no action</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Rationale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One or two sentences shown under the recommendation</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Draft work note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Internal note, copied to clipboard by the agent</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Draft caller message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Customer-facing text, edited before use</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Suggested target group</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Only when the action is reassign</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Evidence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Similar resolved incidents and knowledge articles it drew on</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Confidence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Below 0.55 the recommendation is not surfaced at all</a:t>
                      </a:r>
                    </a:p>
                  </a:txBody>
                  <a:tcPr anchor="ctr" marL="109728">
                    <a:solidFill>
                      <a:srgbClr val="FCFCFB"/>
                    </a:solidFill>
                  </a:tcPr>
                </a:tc>
              </a:tr>
            </a:tbl>
          </a:graphicData>
        </a:graphic>
      </p:graphicFrame>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GUARDRAILS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boundaries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50800" cy="43708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7552"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2A78D6"/>
                </a:solidFill>
                <a:latin typeface="Segoe UI"/>
              </a:rPr>
              <a:t>Enforced in code</a:t>
            </a:r>
          </a:p>
          <a:p>
            <a:pPr>
              <a:lnSpc>
                <a:spcPct val="118000"/>
              </a:lnSpc>
              <a:spcBef>
                <a:spcPts val="1400"/>
              </a:spcBef>
              <a:spcAft>
                <a:spcPts val="0"/>
              </a:spcAft>
            </a:pPr>
            <a:r>
              <a:rPr sz="1300" b="0">
                <a:solidFill>
                  <a:srgbClr val="52514E"/>
                </a:solidFill>
                <a:latin typeface="Segoe UI"/>
              </a:rPr>
              <a:t>·  No write client exists for ServiceNow</a:t>
            </a:r>
          </a:p>
          <a:p>
            <a:pPr>
              <a:lnSpc>
                <a:spcPct val="118000"/>
              </a:lnSpc>
              <a:spcBef>
                <a:spcPts val="1100"/>
              </a:spcBef>
              <a:spcAft>
                <a:spcPts val="0"/>
              </a:spcAft>
            </a:pPr>
            <a:r>
              <a:rPr sz="1300" b="0">
                <a:solidFill>
                  <a:srgbClr val="52514E"/>
                </a:solidFill>
                <a:latin typeface="Segoe UI"/>
              </a:rPr>
              <a:t>·  Personal data removed before the request is sent</a:t>
            </a:r>
          </a:p>
          <a:p>
            <a:pPr>
              <a:lnSpc>
                <a:spcPct val="118000"/>
              </a:lnSpc>
              <a:spcBef>
                <a:spcPts val="1100"/>
              </a:spcBef>
              <a:spcAft>
                <a:spcPts val="0"/>
              </a:spcAft>
            </a:pPr>
            <a:r>
              <a:rPr sz="1300" b="0">
                <a:solidFill>
                  <a:srgbClr val="52514E"/>
                </a:solidFill>
                <a:latin typeface="Segoe UI"/>
              </a:rPr>
              <a:t>·  Recommendations below the confidence floor are withheld</a:t>
            </a:r>
          </a:p>
          <a:p>
            <a:pPr>
              <a:lnSpc>
                <a:spcPct val="118000"/>
              </a:lnSpc>
              <a:spcBef>
                <a:spcPts val="1100"/>
              </a:spcBef>
              <a:spcAft>
                <a:spcPts val="0"/>
              </a:spcAft>
            </a:pPr>
            <a:r>
              <a:rPr sz="1300" b="0">
                <a:solidFill>
                  <a:srgbClr val="52514E"/>
                </a:solidFill>
                <a:latin typeface="Segoe UI"/>
              </a:rPr>
              <a:t>·  Suggested groups are verified against real groups, or flagged</a:t>
            </a:r>
          </a:p>
          <a:p>
            <a:pPr>
              <a:lnSpc>
                <a:spcPct val="118000"/>
              </a:lnSpc>
              <a:spcBef>
                <a:spcPts val="1100"/>
              </a:spcBef>
              <a:spcAft>
                <a:spcPts val="0"/>
              </a:spcAft>
            </a:pPr>
            <a:r>
              <a:rPr sz="1300" b="0">
                <a:solidFill>
                  <a:srgbClr val="52514E"/>
                </a:solidFill>
                <a:latin typeface="Segoe UI"/>
              </a:rPr>
              <a:t>·  Suspected prompt injection in ticket content is flagged for review</a:t>
            </a:r>
          </a:p>
        </p:txBody>
      </p:sp>
      <p:sp>
        <p:nvSpPr>
          <p:cNvPr id="9" name="Rounded Rectangle 8"/>
          <p:cNvSpPr/>
          <p:nvPr/>
        </p:nvSpPr>
        <p:spPr>
          <a:xfrm>
            <a:off x="6278727"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755648"/>
            <a:ext cx="50800" cy="4370832"/>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53047"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0CA30C"/>
                </a:solidFill>
                <a:latin typeface="Segoe UI"/>
              </a:rPr>
              <a:t>Enforced by design</a:t>
            </a:r>
          </a:p>
          <a:p>
            <a:pPr>
              <a:lnSpc>
                <a:spcPct val="118000"/>
              </a:lnSpc>
              <a:spcBef>
                <a:spcPts val="1400"/>
              </a:spcBef>
              <a:spcAft>
                <a:spcPts val="0"/>
              </a:spcAft>
            </a:pPr>
            <a:r>
              <a:rPr sz="1300" b="0">
                <a:solidFill>
                  <a:srgbClr val="52514E"/>
                </a:solidFill>
                <a:latin typeface="Segoe UI"/>
              </a:rPr>
              <a:t>·  Ranking is arithmetic, never model output</a:t>
            </a:r>
          </a:p>
          <a:p>
            <a:pPr>
              <a:lnSpc>
                <a:spcPct val="118000"/>
              </a:lnSpc>
              <a:spcBef>
                <a:spcPts val="1100"/>
              </a:spcBef>
              <a:spcAft>
                <a:spcPts val="0"/>
              </a:spcAft>
            </a:pPr>
            <a:r>
              <a:rPr sz="1300" b="0">
                <a:solidFill>
                  <a:srgbClr val="52514E"/>
                </a:solidFill>
                <a:latin typeface="Segoe UI"/>
              </a:rPr>
              <a:t>·  Drafts are drafts - a person sends them</a:t>
            </a:r>
          </a:p>
          <a:p>
            <a:pPr>
              <a:lnSpc>
                <a:spcPct val="118000"/>
              </a:lnSpc>
              <a:spcBef>
                <a:spcPts val="1100"/>
              </a:spcBef>
              <a:spcAft>
                <a:spcPts val="0"/>
              </a:spcAft>
            </a:pPr>
            <a:r>
              <a:rPr sz="1300" b="0">
                <a:solidFill>
                  <a:srgbClr val="52514E"/>
                </a:solidFill>
                <a:latin typeface="Segoe UI"/>
              </a:rPr>
              <a:t>·  Shadow mode computes everything and emails nothing</a:t>
            </a:r>
          </a:p>
          <a:p>
            <a:pPr>
              <a:lnSpc>
                <a:spcPct val="118000"/>
              </a:lnSpc>
              <a:spcBef>
                <a:spcPts val="1100"/>
              </a:spcBef>
              <a:spcAft>
                <a:spcPts val="0"/>
              </a:spcAft>
            </a:pPr>
            <a:r>
              <a:rPr sz="1300" b="0">
                <a:solidFill>
                  <a:srgbClr val="52514E"/>
                </a:solidFill>
                <a:latin typeface="Segoe UI"/>
              </a:rPr>
              <a:t>·  Every suggestion is recorded and later scored by a lead</a:t>
            </a:r>
          </a:p>
          <a:p>
            <a:pPr>
              <a:lnSpc>
                <a:spcPct val="118000"/>
              </a:lnSpc>
              <a:spcBef>
                <a:spcPts val="1100"/>
              </a:spcBef>
              <a:spcAft>
                <a:spcPts val="0"/>
              </a:spcAft>
            </a:pPr>
            <a:r>
              <a:rPr sz="1300" b="0">
                <a:solidFill>
                  <a:srgbClr val="52514E"/>
                </a:solidFill>
                <a:latin typeface="Segoe UI"/>
              </a:rPr>
              <a:t>·  Unchanged tickets are never re-analysed</a:t>
            </a:r>
          </a:p>
        </p:txBody>
      </p:sp>
      <p:sp>
        <p:nvSpPr>
          <p:cNvPr id="12" name="TextBox 11"/>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13" name="TextBox 12"/>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RETRIEVAL</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Evidence, and why it is retrieved rather than recalled</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Similar incidents come from your own history</a:t>
            </a:r>
          </a:p>
          <a:p>
            <a:pPr lvl="1">
              <a:lnSpc>
                <a:spcPct val="118000"/>
              </a:lnSpc>
              <a:spcBef>
                <a:spcPts val="200"/>
              </a:spcBef>
              <a:spcAft>
                <a:spcPts val="0"/>
              </a:spcAft>
            </a:pPr>
            <a:r>
              <a:rPr sz="1350" b="0">
                <a:solidFill>
                  <a:srgbClr val="52514E"/>
                </a:solidFill>
                <a:latin typeface="Segoe UI"/>
              </a:rPr>
              <a:t>Resolved incidents from the last 180 days are indexed nightly and searched by similarity.</a:t>
            </a:r>
          </a:p>
          <a:p>
            <a:pPr>
              <a:lnSpc>
                <a:spcPct val="118000"/>
              </a:lnSpc>
              <a:spcBef>
                <a:spcPts val="1300"/>
              </a:spcBef>
              <a:spcAft>
                <a:spcPts val="0"/>
              </a:spcAft>
            </a:pPr>
            <a:r>
              <a:rPr sz="1600" b="1">
                <a:solidFill>
                  <a:srgbClr val="0B0B0B"/>
                </a:solidFill>
                <a:latin typeface="Segoe UI"/>
              </a:rPr>
              <a:t>·  Knowledge articles are matched the same way</a:t>
            </a:r>
          </a:p>
          <a:p>
            <a:pPr lvl="1">
              <a:lnSpc>
                <a:spcPct val="118000"/>
              </a:lnSpc>
              <a:spcBef>
                <a:spcPts val="200"/>
              </a:spcBef>
              <a:spcAft>
                <a:spcPts val="0"/>
              </a:spcAft>
            </a:pPr>
            <a:r>
              <a:rPr sz="1350" b="0">
                <a:solidFill>
                  <a:srgbClr val="52514E"/>
                </a:solidFill>
                <a:latin typeface="Segoe UI"/>
              </a:rPr>
              <a:t>Which also produces the "article exists but is not attached" flag.</a:t>
            </a:r>
          </a:p>
          <a:p>
            <a:pPr>
              <a:lnSpc>
                <a:spcPct val="118000"/>
              </a:lnSpc>
              <a:spcBef>
                <a:spcPts val="1300"/>
              </a:spcBef>
              <a:spcAft>
                <a:spcPts val="0"/>
              </a:spcAft>
            </a:pPr>
            <a:r>
              <a:rPr sz="1600" b="1">
                <a:solidFill>
                  <a:srgbClr val="0B0B0B"/>
                </a:solidFill>
                <a:latin typeface="Segoe UI"/>
              </a:rPr>
              <a:t>·  Every citation is shown</a:t>
            </a:r>
          </a:p>
          <a:p>
            <a:pPr lvl="1">
              <a:lnSpc>
                <a:spcPct val="118000"/>
              </a:lnSpc>
              <a:spcBef>
                <a:spcPts val="200"/>
              </a:spcBef>
              <a:spcAft>
                <a:spcPts val="0"/>
              </a:spcAft>
            </a:pPr>
            <a:r>
              <a:rPr sz="1350" b="0">
                <a:solidFill>
                  <a:srgbClr val="52514E"/>
                </a:solidFill>
                <a:latin typeface="Segoe UI"/>
              </a:rPr>
              <a:t>The ticket page lists what the recommendation was based on, so a lead can check it.</a:t>
            </a:r>
          </a:p>
          <a:p>
            <a:pPr>
              <a:lnSpc>
                <a:spcPct val="118000"/>
              </a:lnSpc>
              <a:spcBef>
                <a:spcPts val="1300"/>
              </a:spcBef>
              <a:spcAft>
                <a:spcPts val="0"/>
              </a:spcAft>
            </a:pPr>
            <a:r>
              <a:rPr sz="1600" b="1">
                <a:solidFill>
                  <a:srgbClr val="0B0B0B"/>
                </a:solidFill>
                <a:latin typeface="Segoe UI"/>
              </a:rPr>
              <a:t>·  Nothing is invented</a:t>
            </a:r>
          </a:p>
          <a:p>
            <a:pPr lvl="1">
              <a:lnSpc>
                <a:spcPct val="118000"/>
              </a:lnSpc>
              <a:spcBef>
                <a:spcPts val="200"/>
              </a:spcBef>
              <a:spcAft>
                <a:spcPts val="0"/>
              </a:spcAft>
            </a:pPr>
            <a:r>
              <a:rPr sz="1350" b="0">
                <a:solidFill>
                  <a:srgbClr val="52514E"/>
                </a:solidFill>
                <a:latin typeface="Segoe UI"/>
              </a:rPr>
              <a:t>A suggestion with no supporting evidence is a low-confidence suggestion, and low-confidence suggestions are not shown.</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05</a:t>
            </a:r>
          </a:p>
          <a:p>
            <a:pPr>
              <a:lnSpc>
                <a:spcPct val="118000"/>
              </a:lnSpc>
              <a:spcBef>
                <a:spcPts val="1000"/>
              </a:spcBef>
              <a:spcAft>
                <a:spcPts val="0"/>
              </a:spcAft>
            </a:pPr>
            <a:r>
              <a:rPr sz="3600" b="1">
                <a:solidFill>
                  <a:srgbClr val="0B0B0B"/>
                </a:solidFill>
                <a:latin typeface="Segoe UI"/>
              </a:rPr>
              <a:t>Delivery</a:t>
            </a:r>
          </a:p>
          <a:p>
            <a:pPr>
              <a:lnSpc>
                <a:spcPct val="118000"/>
              </a:lnSpc>
              <a:spcBef>
                <a:spcPts val="1400"/>
              </a:spcBef>
              <a:spcAft>
                <a:spcPts val="0"/>
              </a:spcAft>
            </a:pPr>
            <a:r>
              <a:rPr sz="1500" b="0">
                <a:solidFill>
                  <a:srgbClr val="52514E"/>
                </a:solidFill>
                <a:latin typeface="Segoe UI"/>
              </a:rPr>
              <a:t>Board, digests, alerts</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four loops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713232" y="1444752"/>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13232" y="1444752"/>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77824" y="1627632"/>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EVERY 10 MIN</a:t>
            </a:r>
          </a:p>
          <a:p>
            <a:pPr>
              <a:lnSpc>
                <a:spcPct val="118000"/>
              </a:lnSpc>
              <a:spcBef>
                <a:spcPts val="700"/>
              </a:spcBef>
              <a:spcAft>
                <a:spcPts val="0"/>
              </a:spcAft>
            </a:pPr>
            <a:r>
              <a:rPr sz="1400" b="1">
                <a:solidFill>
                  <a:srgbClr val="0B0B0B"/>
                </a:solidFill>
                <a:latin typeface="Segoe UI"/>
              </a:rPr>
              <a:t>Sync</a:t>
            </a:r>
          </a:p>
          <a:p>
            <a:pPr>
              <a:lnSpc>
                <a:spcPct val="118000"/>
              </a:lnSpc>
              <a:spcBef>
                <a:spcPts val="700"/>
              </a:spcBef>
              <a:spcAft>
                <a:spcPts val="0"/>
              </a:spcAft>
            </a:pPr>
            <a:r>
              <a:rPr sz="1100" b="0">
                <a:solidFill>
                  <a:srgbClr val="52514E"/>
                </a:solidFill>
                <a:latin typeface="Segoe UI"/>
              </a:rPr>
              <a:t>Delta read of changed incidents, recompute every signal, fire risk alerts. No AI in this loop.</a:t>
            </a:r>
          </a:p>
        </p:txBody>
      </p:sp>
      <p:sp>
        <p:nvSpPr>
          <p:cNvPr id="8" name="Isosceles Triangle 7"/>
          <p:cNvSpPr/>
          <p:nvPr/>
        </p:nvSpPr>
        <p:spPr>
          <a:xfrm rot="5400000">
            <a:off x="3226231" y="2487168"/>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482263" y="1444752"/>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482263" y="1444752"/>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46855" y="1627632"/>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HOURLY</a:t>
            </a:r>
          </a:p>
          <a:p>
            <a:pPr>
              <a:lnSpc>
                <a:spcPct val="118000"/>
              </a:lnSpc>
              <a:spcBef>
                <a:spcPts val="700"/>
              </a:spcBef>
              <a:spcAft>
                <a:spcPts val="0"/>
              </a:spcAft>
            </a:pPr>
            <a:r>
              <a:rPr sz="1400" b="1">
                <a:solidFill>
                  <a:srgbClr val="0B0B0B"/>
                </a:solidFill>
                <a:latin typeface="Segoe UI"/>
              </a:rPr>
              <a:t>Advise</a:t>
            </a:r>
          </a:p>
          <a:p>
            <a:pPr>
              <a:lnSpc>
                <a:spcPct val="118000"/>
              </a:lnSpc>
              <a:spcBef>
                <a:spcPts val="700"/>
              </a:spcBef>
              <a:spcAft>
                <a:spcPts val="0"/>
              </a:spcAft>
            </a:pPr>
            <a:r>
              <a:rPr sz="1100" b="0">
                <a:solidFill>
                  <a:srgbClr val="52514E"/>
                </a:solidFill>
                <a:latin typeface="Segoe UI"/>
              </a:rPr>
              <a:t>Language model pass over tickets whose content actually changed. Everything else is served from cache.</a:t>
            </a:r>
          </a:p>
        </p:txBody>
      </p:sp>
      <p:sp>
        <p:nvSpPr>
          <p:cNvPr id="12" name="Isosceles Triangle 11"/>
          <p:cNvSpPr/>
          <p:nvPr/>
        </p:nvSpPr>
        <p:spPr>
          <a:xfrm rot="5400000">
            <a:off x="5995263" y="2487168"/>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251295" y="1444752"/>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51295" y="1444752"/>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15887" y="1627632"/>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DAILY, PER QUEUE</a:t>
            </a:r>
          </a:p>
          <a:p>
            <a:pPr>
              <a:lnSpc>
                <a:spcPct val="118000"/>
              </a:lnSpc>
              <a:spcBef>
                <a:spcPts val="700"/>
              </a:spcBef>
              <a:spcAft>
                <a:spcPts val="0"/>
              </a:spcAft>
            </a:pPr>
            <a:r>
              <a:rPr sz="1400" b="1">
                <a:solidFill>
                  <a:srgbClr val="0B0B0B"/>
                </a:solidFill>
                <a:latin typeface="Segoe UI"/>
              </a:rPr>
              <a:t>Digest</a:t>
            </a:r>
          </a:p>
          <a:p>
            <a:pPr>
              <a:lnSpc>
                <a:spcPct val="118000"/>
              </a:lnSpc>
              <a:spcBef>
                <a:spcPts val="700"/>
              </a:spcBef>
              <a:spcAft>
                <a:spcPts val="0"/>
              </a:spcAft>
            </a:pPr>
            <a:r>
              <a:rPr sz="1100" b="0">
                <a:solidFill>
                  <a:srgbClr val="52514E"/>
                </a:solidFill>
                <a:latin typeface="Segoe UI"/>
              </a:rPr>
              <a:t>Ranked email to leads, then a short list to each agent.</a:t>
            </a:r>
          </a:p>
        </p:txBody>
      </p:sp>
      <p:sp>
        <p:nvSpPr>
          <p:cNvPr id="16" name="Isosceles Triangle 15"/>
          <p:cNvSpPr/>
          <p:nvPr/>
        </p:nvSpPr>
        <p:spPr>
          <a:xfrm rot="5400000">
            <a:off x="8764295" y="2487168"/>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020327" y="1444752"/>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020327" y="1444752"/>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84919" y="1627632"/>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NIGHTLY</a:t>
            </a:r>
          </a:p>
          <a:p>
            <a:pPr>
              <a:lnSpc>
                <a:spcPct val="118000"/>
              </a:lnSpc>
              <a:spcBef>
                <a:spcPts val="700"/>
              </a:spcBef>
              <a:spcAft>
                <a:spcPts val="0"/>
              </a:spcAft>
            </a:pPr>
            <a:r>
              <a:rPr sz="1400" b="1">
                <a:solidFill>
                  <a:srgbClr val="0B0B0B"/>
                </a:solidFill>
                <a:latin typeface="Segoe UI"/>
              </a:rPr>
              <a:t>Maintain</a:t>
            </a:r>
          </a:p>
          <a:p>
            <a:pPr>
              <a:lnSpc>
                <a:spcPct val="118000"/>
              </a:lnSpc>
              <a:spcBef>
                <a:spcPts val="700"/>
              </a:spcBef>
              <a:spcAft>
                <a:spcPts val="0"/>
              </a:spcAft>
            </a:pPr>
            <a:r>
              <a:rPr sz="1100" b="0">
                <a:solidFill>
                  <a:srgbClr val="52514E"/>
                </a:solidFill>
                <a:latin typeface="Segoe UI"/>
              </a:rPr>
              <a:t>Full sync, retire departed tickets, rebuild the evidence index and resolution baselines.</a:t>
            </a:r>
          </a:p>
        </p:txBody>
      </p:sp>
      <p:sp>
        <p:nvSpPr>
          <p:cNvPr id="20" name="TextBox 19"/>
          <p:cNvSpPr txBox="1"/>
          <p:nvPr/>
        </p:nvSpPr>
        <p:spPr>
          <a:xfrm>
            <a:off x="713232" y="4005072"/>
            <a:ext cx="10765231" cy="731520"/>
          </a:xfrm>
          <a:prstGeom prst="rect">
            <a:avLst/>
          </a:prstGeom>
          <a:noFill/>
        </p:spPr>
        <p:txBody>
          <a:bodyPr wrap="square">
            <a:spAutoFit/>
          </a:bodyPr>
          <a:lstStyle/>
          <a:p>
            <a:pPr>
              <a:lnSpc>
                <a:spcPct val="118000"/>
              </a:lnSpc>
              <a:spcBef>
                <a:spcPts val="0"/>
              </a:spcBef>
              <a:spcAft>
                <a:spcPts val="0"/>
              </a:spcAft>
            </a:pPr>
            <a:r>
              <a:rPr sz="1300" b="0">
                <a:solidFill>
                  <a:srgbClr val="52514E"/>
                </a:solidFill>
                <a:latin typeface="Segoe UI"/>
              </a:rPr>
              <a:t>Jobs do not stack. If a run overruns its interval the next is skipped rather than queued, so a slow period in ServiceNow cannot turn into a backlog of concurrent syncs.</a:t>
            </a:r>
          </a:p>
        </p:txBody>
      </p:sp>
      <p:sp>
        <p:nvSpPr>
          <p:cNvPr id="21" name="TextBox 20"/>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22" name="TextBox 21"/>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EMAIL</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daily lead digest</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0">
                <a:solidFill>
                  <a:srgbClr val="0B0B0B"/>
                </a:solidFill>
                <a:latin typeface="Segoe UI"/>
              </a:rPr>
              <a:t>·  Ranked worst-first, with the score and the reasons for it.</a:t>
            </a:r>
          </a:p>
          <a:p>
            <a:pPr>
              <a:lnSpc>
                <a:spcPct val="118000"/>
              </a:lnSpc>
              <a:spcBef>
                <a:spcPts val="1000"/>
              </a:spcBef>
              <a:spcAft>
                <a:spcPts val="0"/>
              </a:spcAft>
            </a:pPr>
            <a:r>
              <a:rPr sz="1600" b="0">
                <a:solidFill>
                  <a:srgbClr val="0B0B0B"/>
                </a:solidFill>
                <a:latin typeface="Segoe UI"/>
              </a:rPr>
              <a:t>·  Split into what is new, what got worse, and what is steady - a lead who saw the same forty rows yesterday needs the six that changed.</a:t>
            </a:r>
          </a:p>
          <a:p>
            <a:pPr>
              <a:lnSpc>
                <a:spcPct val="118000"/>
              </a:lnSpc>
              <a:spcBef>
                <a:spcPts val="1000"/>
              </a:spcBef>
              <a:spcAft>
                <a:spcPts val="0"/>
              </a:spcAft>
            </a:pPr>
            <a:r>
              <a:rPr sz="1600" b="0">
                <a:solidFill>
                  <a:srgbClr val="0B0B0B"/>
                </a:solidFill>
                <a:latin typeface="Segoe UI"/>
              </a:rPr>
              <a:t>·  Grouped by who owes the next action, so "nine of these are ours" is the first thing on the page.</a:t>
            </a:r>
          </a:p>
          <a:p>
            <a:pPr>
              <a:lnSpc>
                <a:spcPct val="118000"/>
              </a:lnSpc>
              <a:spcBef>
                <a:spcPts val="1000"/>
              </a:spcBef>
              <a:spcAft>
                <a:spcPts val="0"/>
              </a:spcAft>
            </a:pPr>
            <a:r>
              <a:rPr sz="1600" b="0">
                <a:solidFill>
                  <a:srgbClr val="0B0B0B"/>
                </a:solidFill>
                <a:latin typeface="Segoe UI"/>
              </a:rPr>
              <a:t>·  Sent per queue on its own schedule and timezone.</a:t>
            </a:r>
          </a:p>
          <a:p>
            <a:pPr>
              <a:lnSpc>
                <a:spcPct val="118000"/>
              </a:lnSpc>
              <a:spcBef>
                <a:spcPts val="1000"/>
              </a:spcBef>
              <a:spcAft>
                <a:spcPts val="0"/>
              </a:spcAft>
            </a:pPr>
            <a:r>
              <a:rPr sz="1600" b="0">
                <a:solidFill>
                  <a:srgbClr val="0B0B0B"/>
                </a:solidFill>
                <a:latin typeface="Segoe UI"/>
              </a:rPr>
              <a:t>·  All times in US Central, with the timezone named at the foot of the mail.</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Risk alerts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55778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Detected on the ten-minute loop. Deduplicated to once per ticket, per alert type, per day - a ticket that stays breached does not re-alert every ten minutes.</a:t>
            </a:r>
          </a:p>
        </p:txBody>
      </p:sp>
      <p:graphicFrame>
        <p:nvGraphicFramePr>
          <p:cNvPr id="6" name="Table 5"/>
          <p:cNvGraphicFramePr>
            <a:graphicFrameLocks noGrp="1"/>
          </p:cNvGraphicFramePr>
          <p:nvPr/>
        </p:nvGraphicFramePr>
        <p:xfrm>
          <a:off x="713232" y="2002536"/>
          <a:ext cx="10765230" cy="2414016"/>
        </p:xfrm>
        <a:graphic>
          <a:graphicData uri="http://schemas.openxmlformats.org/drawingml/2006/table">
            <a:tbl>
              <a:tblPr firstRow="1" bandRow="1">
                <a:tableStyleId>{5C22544A-7EE6-4342-B048-85BDC9FD1C3A}</a:tableStyleId>
              </a:tblPr>
              <a:tblGrid>
                <a:gridCol w="3229569"/>
                <a:gridCol w="7535661"/>
              </a:tblGrid>
              <a:tr h="402336">
                <a:tc>
                  <a:txBody>
                    <a:bodyPr wrap="square"/>
                    <a:lstStyle/>
                    <a:p>
                      <a:pPr>
                        <a:lnSpc>
                          <a:spcPct val="118000"/>
                        </a:lnSpc>
                        <a:spcBef>
                          <a:spcPts val="0"/>
                        </a:spcBef>
                        <a:spcAft>
                          <a:spcPts val="0"/>
                        </a:spcAft>
                      </a:pPr>
                      <a:r>
                        <a:rPr sz="1150" b="1">
                          <a:solidFill>
                            <a:srgbClr val="FFFFFF"/>
                          </a:solidFill>
                          <a:latin typeface="Segoe UI"/>
                        </a:rPr>
                        <a:t>Alert</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Fires when</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SLA breached</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The resolution SLA has been passed</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SLA at risk</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Consumption crosses the configured percentage</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Caller awaiting reply</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The caller spoke last and nobody has answered</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Dependency cleared</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The change or problem it was held for has closed</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Prolonged inactivity</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No real action by the assigned team past the threshold</a:t>
                      </a:r>
                    </a:p>
                  </a:txBody>
                  <a:tcPr anchor="ctr" marL="109728">
                    <a:solidFill>
                      <a:srgbClr val="FCFCFB"/>
                    </a:solidFill>
                  </a:tcPr>
                </a:tc>
              </a:tr>
            </a:tbl>
          </a:graphicData>
        </a:graphic>
      </p:graphicFrame>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SCREENS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web interface</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Board</a:t>
            </a:r>
          </a:p>
          <a:p>
            <a:pPr>
              <a:lnSpc>
                <a:spcPct val="118000"/>
              </a:lnSpc>
              <a:spcBef>
                <a:spcPts val="600"/>
              </a:spcBef>
              <a:spcAft>
                <a:spcPts val="0"/>
              </a:spcAft>
            </a:pPr>
            <a:r>
              <a:rPr sz="1150" b="0">
                <a:solidFill>
                  <a:srgbClr val="52514E"/>
                </a:solidFill>
                <a:latin typeface="Segoe UI"/>
              </a:rPr>
              <a:t>Ranked, with filters for queue, agent, who owes the action, risk flag and recommended action.</a:t>
            </a:r>
          </a:p>
        </p:txBody>
      </p:sp>
      <p:sp>
        <p:nvSpPr>
          <p:cNvPr id="9" name="Rounded Rectangle 8"/>
          <p:cNvSpPr/>
          <p:nvPr/>
        </p:nvSpPr>
        <p:spPr>
          <a:xfrm>
            <a:off x="4380890"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80890"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82058"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Ticket</a:t>
            </a:r>
          </a:p>
          <a:p>
            <a:pPr>
              <a:lnSpc>
                <a:spcPct val="118000"/>
              </a:lnSpc>
              <a:spcBef>
                <a:spcPts val="600"/>
              </a:spcBef>
              <a:spcAft>
                <a:spcPts val="0"/>
              </a:spcAft>
            </a:pPr>
            <a:r>
              <a:rPr sz="1150" b="0">
                <a:solidFill>
                  <a:srgbClr val="52514E"/>
                </a:solidFill>
                <a:latin typeface="Segoe UI"/>
              </a:rPr>
              <a:t>Signals, score breakdown, activity grouped as ServiceNow groups it, drafts, and the verdict buttons.</a:t>
            </a:r>
          </a:p>
        </p:txBody>
      </p:sp>
      <p:sp>
        <p:nvSpPr>
          <p:cNvPr id="12" name="Rounded Rectangle 11"/>
          <p:cNvSpPr/>
          <p:nvPr/>
        </p:nvSpPr>
        <p:spPr>
          <a:xfrm>
            <a:off x="8048548"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48548"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49716"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By agent</a:t>
            </a:r>
          </a:p>
          <a:p>
            <a:pPr>
              <a:lnSpc>
                <a:spcPct val="118000"/>
              </a:lnSpc>
              <a:spcBef>
                <a:spcPts val="600"/>
              </a:spcBef>
              <a:spcAft>
                <a:spcPts val="0"/>
              </a:spcAft>
            </a:pPr>
            <a:r>
              <a:rPr sz="1150" b="0">
                <a:solidFill>
                  <a:srgbClr val="52514E"/>
                </a:solidFill>
                <a:latin typeface="Segoe UI"/>
              </a:rPr>
              <a:t>Per-person aged backlog, worst score, average idle, SLA breaches, knowledge gaps.</a:t>
            </a:r>
          </a:p>
        </p:txBody>
      </p:sp>
      <p:sp>
        <p:nvSpPr>
          <p:cNvPr id="15" name="Rounded Rectangle 14"/>
          <p:cNvSpPr/>
          <p:nvPr/>
        </p:nvSpPr>
        <p:spPr>
          <a:xfrm>
            <a:off x="713232"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13232"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Accuracy</a:t>
            </a:r>
          </a:p>
          <a:p>
            <a:pPr>
              <a:lnSpc>
                <a:spcPct val="118000"/>
              </a:lnSpc>
              <a:spcBef>
                <a:spcPts val="600"/>
              </a:spcBef>
              <a:spcAft>
                <a:spcPts val="0"/>
              </a:spcAft>
            </a:pPr>
            <a:r>
              <a:rPr sz="1150" b="0">
                <a:solidFill>
                  <a:srgbClr val="52514E"/>
                </a:solidFill>
                <a:latin typeface="Segoe UI"/>
              </a:rPr>
              <a:t>Agreement rate, precision, coverage, and breaches that fired no warning.</a:t>
            </a:r>
          </a:p>
        </p:txBody>
      </p:sp>
      <p:sp>
        <p:nvSpPr>
          <p:cNvPr id="18" name="Rounded Rectangle 17"/>
          <p:cNvSpPr/>
          <p:nvPr/>
        </p:nvSpPr>
        <p:spPr>
          <a:xfrm>
            <a:off x="4380890"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80890"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82058"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Weights</a:t>
            </a:r>
          </a:p>
          <a:p>
            <a:pPr>
              <a:lnSpc>
                <a:spcPct val="118000"/>
              </a:lnSpc>
              <a:spcBef>
                <a:spcPts val="600"/>
              </a:spcBef>
              <a:spcAft>
                <a:spcPts val="0"/>
              </a:spcAft>
            </a:pPr>
            <a:r>
              <a:rPr sz="1150" b="0">
                <a:solidFill>
                  <a:srgbClr val="52514E"/>
                </a:solidFill>
                <a:latin typeface="Segoe UI"/>
              </a:rPr>
              <a:t>The seven score components, editable, with the sum-to-100 guard.</a:t>
            </a:r>
          </a:p>
        </p:txBody>
      </p:sp>
      <p:sp>
        <p:nvSpPr>
          <p:cNvPr id="21" name="Rounded Rectangle 20"/>
          <p:cNvSpPr/>
          <p:nvPr/>
        </p:nvSpPr>
        <p:spPr>
          <a:xfrm>
            <a:off x="8048548"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8548"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49716"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Access</a:t>
            </a:r>
          </a:p>
          <a:p>
            <a:pPr>
              <a:lnSpc>
                <a:spcPct val="118000"/>
              </a:lnSpc>
              <a:spcBef>
                <a:spcPts val="600"/>
              </a:spcBef>
              <a:spcAft>
                <a:spcPts val="0"/>
              </a:spcAft>
            </a:pPr>
            <a:r>
              <a:rPr sz="1150" b="0">
                <a:solidFill>
                  <a:srgbClr val="52514E"/>
                </a:solidFill>
                <a:latin typeface="Segoe UI"/>
              </a:rPr>
              <a:t>Role requests from users, approved or declined by an administrator.</a:t>
            </a:r>
          </a:p>
        </p:txBody>
      </p:sp>
      <p:sp>
        <p:nvSpPr>
          <p:cNvPr id="24" name="TextBox 23"/>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25" name="TextBox 24"/>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06</a:t>
            </a:r>
          </a:p>
          <a:p>
            <a:pPr>
              <a:lnSpc>
                <a:spcPct val="118000"/>
              </a:lnSpc>
              <a:spcBef>
                <a:spcPts val="1000"/>
              </a:spcBef>
              <a:spcAft>
                <a:spcPts val="0"/>
              </a:spcAft>
            </a:pPr>
            <a:r>
              <a:rPr sz="3600" b="1">
                <a:solidFill>
                  <a:srgbClr val="0B0B0B"/>
                </a:solidFill>
                <a:latin typeface="Segoe UI"/>
              </a:rPr>
              <a:t>Measurement</a:t>
            </a:r>
          </a:p>
          <a:p>
            <a:pPr>
              <a:lnSpc>
                <a:spcPct val="118000"/>
              </a:lnSpc>
              <a:spcBef>
                <a:spcPts val="1400"/>
              </a:spcBef>
              <a:spcAft>
                <a:spcPts val="0"/>
              </a:spcAft>
            </a:pPr>
            <a:r>
              <a:rPr sz="1500" b="0">
                <a:solidFill>
                  <a:srgbClr val="52514E"/>
                </a:solidFill>
                <a:latin typeface="Segoe UI"/>
              </a:rPr>
              <a:t>How we will know whether to keep it</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The verdict a lead records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55778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One click on the ticket page. This is the only thing that makes accuracy measurable, and it is the one thing the tool cannot do for itself.</a:t>
            </a:r>
          </a:p>
        </p:txBody>
      </p:sp>
      <p:graphicFrame>
        <p:nvGraphicFramePr>
          <p:cNvPr id="6" name="Table 5"/>
          <p:cNvGraphicFramePr>
            <a:graphicFrameLocks noGrp="1"/>
          </p:cNvGraphicFramePr>
          <p:nvPr/>
        </p:nvGraphicFramePr>
        <p:xfrm>
          <a:off x="713232" y="2002536"/>
          <a:ext cx="10765229" cy="2414016"/>
        </p:xfrm>
        <a:graphic>
          <a:graphicData uri="http://schemas.openxmlformats.org/drawingml/2006/table">
            <a:tbl>
              <a:tblPr firstRow="1" bandRow="1">
                <a:tableStyleId>{5C22544A-7EE6-4342-B048-85BDC9FD1C3A}</a:tableStyleId>
              </a:tblPr>
              <a:tblGrid>
                <a:gridCol w="2368350"/>
                <a:gridCol w="5167310"/>
                <a:gridCol w="3229569"/>
              </a:tblGrid>
              <a:tr h="402336">
                <a:tc>
                  <a:txBody>
                    <a:bodyPr wrap="square"/>
                    <a:lstStyle/>
                    <a:p>
                      <a:pPr>
                        <a:lnSpc>
                          <a:spcPct val="118000"/>
                        </a:lnSpc>
                        <a:spcBef>
                          <a:spcPts val="0"/>
                        </a:spcBef>
                        <a:spcAft>
                          <a:spcPts val="0"/>
                        </a:spcAft>
                      </a:pPr>
                      <a:r>
                        <a:rPr sz="1150" b="1">
                          <a:solidFill>
                            <a:srgbClr val="FFFFFF"/>
                          </a:solidFill>
                          <a:latin typeface="Segoe UI"/>
                        </a:rPr>
                        <a:t>Verdict</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Meaning</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Counts as</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Agree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This is the right next step</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Agreement</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Mostly right</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Right direction, I adjusted it</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Agreement</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Wrong</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Not the right step</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Disagreement</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Not applicable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Should not have been flagged at all</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Disagreement</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Already handled</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Dealt with before I got here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Excluded, and snoozed</a:t>
                      </a:r>
                    </a:p>
                  </a:txBody>
                  <a:tcPr anchor="ctr" marL="109728">
                    <a:solidFill>
                      <a:srgbClr val="FCFCFB"/>
                    </a:solidFill>
                  </a:tcPr>
                </a:tc>
              </a:tr>
            </a:tbl>
          </a:graphicData>
        </a:graphic>
      </p:graphicFrame>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METRICS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the Accuracy page reports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Agreement rate</a:t>
            </a:r>
          </a:p>
          <a:p>
            <a:pPr>
              <a:lnSpc>
                <a:spcPct val="118000"/>
              </a:lnSpc>
              <a:spcBef>
                <a:spcPts val="600"/>
              </a:spcBef>
              <a:spcAft>
                <a:spcPts val="0"/>
              </a:spcAft>
            </a:pPr>
            <a:r>
              <a:rPr sz="1150" b="0">
                <a:solidFill>
                  <a:srgbClr val="52514E"/>
                </a:solidFill>
                <a:latin typeface="Segoe UI"/>
              </a:rPr>
              <a:t>Of the suggestions a lead judged, how many they agreed with, exactly or with edits.</a:t>
            </a:r>
          </a:p>
        </p:txBody>
      </p:sp>
      <p:sp>
        <p:nvSpPr>
          <p:cNvPr id="9" name="Rounded Rectangle 8"/>
          <p:cNvSpPr/>
          <p:nvPr/>
        </p:nvSpPr>
        <p:spPr>
          <a:xfrm>
            <a:off x="4380890"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80890"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82058"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Actionable precision</a:t>
            </a:r>
          </a:p>
          <a:p>
            <a:pPr>
              <a:lnSpc>
                <a:spcPct val="118000"/>
              </a:lnSpc>
              <a:spcBef>
                <a:spcPts val="600"/>
              </a:spcBef>
              <a:spcAft>
                <a:spcPts val="0"/>
              </a:spcAft>
            </a:pPr>
            <a:r>
              <a:rPr sz="1150" b="0">
                <a:solidFill>
                  <a:srgbClr val="52514E"/>
                </a:solidFill>
                <a:latin typeface="Segoe UI"/>
              </a:rPr>
              <a:t>Of the tickets flagged, how many turned out to matter.</a:t>
            </a:r>
          </a:p>
        </p:txBody>
      </p:sp>
      <p:sp>
        <p:nvSpPr>
          <p:cNvPr id="12" name="Rounded Rectangle 11"/>
          <p:cNvSpPr/>
          <p:nvPr/>
        </p:nvSpPr>
        <p:spPr>
          <a:xfrm>
            <a:off x="8048548"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48548"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49716"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Coverage</a:t>
            </a:r>
          </a:p>
          <a:p>
            <a:pPr>
              <a:lnSpc>
                <a:spcPct val="118000"/>
              </a:lnSpc>
              <a:spcBef>
                <a:spcPts val="600"/>
              </a:spcBef>
              <a:spcAft>
                <a:spcPts val="0"/>
              </a:spcAft>
            </a:pPr>
            <a:r>
              <a:rPr sz="1150" b="0">
                <a:solidFill>
                  <a:srgbClr val="52514E"/>
                </a:solidFill>
                <a:latin typeface="Segoe UI"/>
              </a:rPr>
              <a:t>How many recommended tickets were actually reviewed - a high agreement rate on three tickets means nothing.</a:t>
            </a:r>
          </a:p>
        </p:txBody>
      </p:sp>
      <p:sp>
        <p:nvSpPr>
          <p:cNvPr id="15" name="Rounded Rectangle 14"/>
          <p:cNvSpPr/>
          <p:nvPr/>
        </p:nvSpPr>
        <p:spPr>
          <a:xfrm>
            <a:off x="713232"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13232"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By action type</a:t>
            </a:r>
          </a:p>
          <a:p>
            <a:pPr>
              <a:lnSpc>
                <a:spcPct val="118000"/>
              </a:lnSpc>
              <a:spcBef>
                <a:spcPts val="600"/>
              </a:spcBef>
              <a:spcAft>
                <a:spcPts val="0"/>
              </a:spcAft>
            </a:pPr>
            <a:r>
              <a:rPr sz="1150" b="0">
                <a:solidFill>
                  <a:srgbClr val="52514E"/>
                </a:solidFill>
                <a:latin typeface="Segoe UI"/>
              </a:rPr>
              <a:t>Which recommendations are reliable and which are not, with average confidence for each.</a:t>
            </a:r>
          </a:p>
        </p:txBody>
      </p:sp>
      <p:sp>
        <p:nvSpPr>
          <p:cNvPr id="18" name="Rounded Rectangle 17"/>
          <p:cNvSpPr/>
          <p:nvPr/>
        </p:nvSpPr>
        <p:spPr>
          <a:xfrm>
            <a:off x="4380890"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80890"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82058"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False quiet</a:t>
            </a:r>
          </a:p>
          <a:p>
            <a:pPr>
              <a:lnSpc>
                <a:spcPct val="118000"/>
              </a:lnSpc>
              <a:spcBef>
                <a:spcPts val="600"/>
              </a:spcBef>
              <a:spcAft>
                <a:spcPts val="0"/>
              </a:spcAft>
            </a:pPr>
            <a:r>
              <a:rPr sz="1150" b="0">
                <a:solidFill>
                  <a:srgbClr val="52514E"/>
                </a:solidFill>
                <a:latin typeface="Segoe UI"/>
              </a:rPr>
              <a:t>Incidents that breached with no prior warning. The number a vendor would leave out.</a:t>
            </a:r>
          </a:p>
        </p:txBody>
      </p:sp>
      <p:sp>
        <p:nvSpPr>
          <p:cNvPr id="21" name="Rounded Rectangle 20"/>
          <p:cNvSpPr/>
          <p:nvPr/>
        </p:nvSpPr>
        <p:spPr>
          <a:xfrm>
            <a:off x="8048548"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8548"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49716"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Volume over time</a:t>
            </a:r>
          </a:p>
          <a:p>
            <a:pPr>
              <a:lnSpc>
                <a:spcPct val="118000"/>
              </a:lnSpc>
              <a:spcBef>
                <a:spcPts val="600"/>
              </a:spcBef>
              <a:spcAft>
                <a:spcPts val="0"/>
              </a:spcAft>
            </a:pPr>
            <a:r>
              <a:rPr sz="1150" b="0">
                <a:solidFill>
                  <a:srgbClr val="52514E"/>
                </a:solidFill>
                <a:latin typeface="Segoe UI"/>
              </a:rPr>
              <a:t>Board size and feedback volume, counted on UTC day boundaries.</a:t>
            </a:r>
          </a:p>
        </p:txBody>
      </p:sp>
      <p:sp>
        <p:nvSpPr>
          <p:cNvPr id="24" name="TextBox 23"/>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25" name="TextBox 24"/>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07</a:t>
            </a:r>
          </a:p>
          <a:p>
            <a:pPr>
              <a:lnSpc>
                <a:spcPct val="118000"/>
              </a:lnSpc>
              <a:spcBef>
                <a:spcPts val="1000"/>
              </a:spcBef>
              <a:spcAft>
                <a:spcPts val="0"/>
              </a:spcAft>
            </a:pPr>
            <a:r>
              <a:rPr sz="3600" b="1">
                <a:solidFill>
                  <a:srgbClr val="0B0B0B"/>
                </a:solidFill>
                <a:latin typeface="Segoe UI"/>
              </a:rPr>
              <a:t>Running it</a:t>
            </a:r>
          </a:p>
          <a:p>
            <a:pPr>
              <a:lnSpc>
                <a:spcPct val="118000"/>
              </a:lnSpc>
              <a:spcBef>
                <a:spcPts val="1400"/>
              </a:spcBef>
              <a:spcAft>
                <a:spcPts val="0"/>
              </a:spcAft>
            </a:pPr>
            <a:r>
              <a:rPr sz="1500" b="0">
                <a:solidFill>
                  <a:srgbClr val="52514E"/>
                </a:solidFill>
                <a:latin typeface="Segoe UI"/>
              </a:rPr>
              <a:t>Deployment, access, failure behaviour</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ARCHITECTURE</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Deployment shape</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0">
                <a:solidFill>
                  <a:srgbClr val="0B0B0B"/>
                </a:solidFill>
                <a:latin typeface="Segoe UI"/>
              </a:rPr>
              <a:t>·  Runs beside the existing ticket audit tool, not inside it - its own service, own database, own port, own systemd unit.</a:t>
            </a:r>
          </a:p>
          <a:p>
            <a:pPr>
              <a:lnSpc>
                <a:spcPct val="118000"/>
              </a:lnSpc>
              <a:spcBef>
                <a:spcPts val="1000"/>
              </a:spcBef>
              <a:spcAft>
                <a:spcPts val="0"/>
              </a:spcAft>
            </a:pPr>
            <a:r>
              <a:rPr sz="1600" b="0">
                <a:solidFill>
                  <a:srgbClr val="0B0B0B"/>
                </a:solidFill>
                <a:latin typeface="Segoe UI"/>
              </a:rPr>
              <a:t>·  The only contact with the audit tool is one optional read-only query for agent compliance scores, off by default.</a:t>
            </a:r>
          </a:p>
          <a:p>
            <a:pPr>
              <a:lnSpc>
                <a:spcPct val="118000"/>
              </a:lnSpc>
              <a:spcBef>
                <a:spcPts val="1000"/>
              </a:spcBef>
              <a:spcAft>
                <a:spcPts val="0"/>
              </a:spcAft>
            </a:pPr>
            <a:r>
              <a:rPr sz="1600" b="0">
                <a:solidFill>
                  <a:srgbClr val="0B0B0B"/>
                </a:solidFill>
                <a:latin typeface="Segoe UI"/>
              </a:rPr>
              <a:t>·  ServiceNow access is read-only: incidents, history, SLAs, knowledge, group membership.</a:t>
            </a:r>
          </a:p>
          <a:p>
            <a:pPr>
              <a:lnSpc>
                <a:spcPct val="118000"/>
              </a:lnSpc>
              <a:spcBef>
                <a:spcPts val="1000"/>
              </a:spcBef>
              <a:spcAft>
                <a:spcPts val="0"/>
              </a:spcAft>
            </a:pPr>
            <a:r>
              <a:rPr sz="1600" b="0">
                <a:solidFill>
                  <a:srgbClr val="0B0B0B"/>
                </a:solidFill>
                <a:latin typeface="Segoe UI"/>
              </a:rPr>
              <a:t>·  Credentials in Vault. Nothing sensitive in a configuration file.</a:t>
            </a:r>
          </a:p>
          <a:p>
            <a:pPr>
              <a:lnSpc>
                <a:spcPct val="118000"/>
              </a:lnSpc>
              <a:spcBef>
                <a:spcPts val="1000"/>
              </a:spcBef>
              <a:spcAft>
                <a:spcPts val="0"/>
              </a:spcAft>
            </a:pPr>
            <a:r>
              <a:rPr sz="1600" b="0">
                <a:solidFill>
                  <a:srgbClr val="0B0B0B"/>
                </a:solidFill>
                <a:latin typeface="Segoe UI"/>
              </a:rPr>
              <a:t>·  Behind nginx with TLS; the service itself listens locally.</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Roles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352044"/>
          </a:xfrm>
          <a:prstGeom prst="rect">
            <a:avLst/>
          </a:prstGeom>
          <a:noFill/>
        </p:spPr>
        <p:txBody>
          <a:bodyPr wrap="square">
            <a:spAutoFit/>
          </a:bodyPr>
          <a:lstStyle/>
          <a:p>
            <a:pPr>
              <a:lnSpc>
                <a:spcPct val="118000"/>
              </a:lnSpc>
              <a:spcBef>
                <a:spcPts val="0"/>
              </a:spcBef>
              <a:spcAft>
                <a:spcPts val="0"/>
              </a:spcAft>
            </a:pPr>
            <a:r>
              <a:rPr sz="1350" b="0">
                <a:solidFill>
                  <a:srgbClr val="52514E"/>
                </a:solidFill>
                <a:latin typeface="Segoe UI"/>
              </a:rPr>
              <a:t>Sign-in is through Keycloak with your existing account. A new user is a Viewer until somebody says otherwise.</a:t>
            </a:r>
          </a:p>
        </p:txBody>
      </p:sp>
      <p:graphicFrame>
        <p:nvGraphicFramePr>
          <p:cNvPr id="6" name="Table 5"/>
          <p:cNvGraphicFramePr>
            <a:graphicFrameLocks noGrp="1"/>
          </p:cNvGraphicFramePr>
          <p:nvPr/>
        </p:nvGraphicFramePr>
        <p:xfrm>
          <a:off x="713232" y="1796796"/>
          <a:ext cx="10765230" cy="1609344"/>
        </p:xfrm>
        <a:graphic>
          <a:graphicData uri="http://schemas.openxmlformats.org/drawingml/2006/table">
            <a:tbl>
              <a:tblPr firstRow="1" bandRow="1">
                <a:tableStyleId>{5C22544A-7EE6-4342-B048-85BDC9FD1C3A}</a:tableStyleId>
              </a:tblPr>
              <a:tblGrid>
                <a:gridCol w="1507132"/>
                <a:gridCol w="2583655"/>
                <a:gridCol w="6674443"/>
              </a:tblGrid>
              <a:tr h="402336">
                <a:tc>
                  <a:txBody>
                    <a:bodyPr wrap="square"/>
                    <a:lstStyle/>
                    <a:p>
                      <a:pPr>
                        <a:lnSpc>
                          <a:spcPct val="118000"/>
                        </a:lnSpc>
                        <a:spcBef>
                          <a:spcPts val="0"/>
                        </a:spcBef>
                        <a:spcAft>
                          <a:spcPts val="0"/>
                        </a:spcAft>
                      </a:pPr>
                      <a:r>
                        <a:rPr sz="1150" b="1">
                          <a:solidFill>
                            <a:srgbClr val="FFFFFF"/>
                          </a:solidFill>
                          <a:latin typeface="Segoe UI"/>
                        </a:rPr>
                        <a:t>Role</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Who</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Can</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Viewer</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Agents, managers</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See the board and tickets for their own queues</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Lead</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Team leads</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All of the above, plus record verdicts, snooze, request re-analysis, receive the digest</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Admin</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Application team</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All of the above, plus tune weights and approve role requests</a:t>
                      </a:r>
                    </a:p>
                  </a:txBody>
                  <a:tcPr anchor="ctr" marL="109728">
                    <a:solidFill>
                      <a:srgbClr val="FCFCFB"/>
                    </a:solidFill>
                  </a:tcPr>
                </a:tc>
              </a:tr>
            </a:tbl>
          </a:graphicData>
        </a:graphic>
      </p:graphicFrame>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JOINERS AND LEAVERS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How access is granted</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First sign-in creates the account as a Viewer</a:t>
            </a:r>
          </a:p>
          <a:p>
            <a:pPr lvl="1">
              <a:lnSpc>
                <a:spcPct val="118000"/>
              </a:lnSpc>
              <a:spcBef>
                <a:spcPts val="200"/>
              </a:spcBef>
              <a:spcAft>
                <a:spcPts val="0"/>
              </a:spcAft>
            </a:pPr>
            <a:r>
              <a:rPr sz="1350" b="0">
                <a:solidFill>
                  <a:srgbClr val="52514E"/>
                </a:solidFill>
                <a:latin typeface="Segoe UI"/>
              </a:rPr>
              <a:t>No ticket, no waiting, no administrator involved.</a:t>
            </a:r>
          </a:p>
          <a:p>
            <a:pPr>
              <a:lnSpc>
                <a:spcPct val="118000"/>
              </a:lnSpc>
              <a:spcBef>
                <a:spcPts val="1300"/>
              </a:spcBef>
              <a:spcAft>
                <a:spcPts val="0"/>
              </a:spcAft>
            </a:pPr>
            <a:r>
              <a:rPr sz="1600" b="1">
                <a:solidFill>
                  <a:srgbClr val="0B0B0B"/>
                </a:solidFill>
                <a:latin typeface="Segoe UI"/>
              </a:rPr>
              <a:t>·  Queues come from ServiceNow</a:t>
            </a:r>
          </a:p>
          <a:p>
            <a:pPr lvl="1">
              <a:lnSpc>
                <a:spcPct val="118000"/>
              </a:lnSpc>
              <a:spcBef>
                <a:spcPts val="200"/>
              </a:spcBef>
              <a:spcAft>
                <a:spcPts val="0"/>
              </a:spcAft>
            </a:pPr>
            <a:r>
              <a:rPr sz="1350" b="0">
                <a:solidFill>
                  <a:srgbClr val="52514E"/>
                </a:solidFill>
                <a:latin typeface="Segoe UI"/>
              </a:rPr>
              <a:t>The groups you belong to are read on first sign-in, and you see those queues and no others.</a:t>
            </a:r>
          </a:p>
          <a:p>
            <a:pPr>
              <a:lnSpc>
                <a:spcPct val="118000"/>
              </a:lnSpc>
              <a:spcBef>
                <a:spcPts val="1300"/>
              </a:spcBef>
              <a:spcAft>
                <a:spcPts val="0"/>
              </a:spcAft>
            </a:pPr>
            <a:r>
              <a:rPr sz="1600" b="1">
                <a:solidFill>
                  <a:srgbClr val="0B0B0B"/>
                </a:solidFill>
                <a:latin typeface="Segoe UI"/>
              </a:rPr>
              <a:t>·  Elevation is a request, not an email to somebody</a:t>
            </a:r>
          </a:p>
          <a:p>
            <a:pPr lvl="1">
              <a:lnSpc>
                <a:spcPct val="118000"/>
              </a:lnSpc>
              <a:spcBef>
                <a:spcPts val="200"/>
              </a:spcBef>
              <a:spcAft>
                <a:spcPts val="0"/>
              </a:spcAft>
            </a:pPr>
            <a:r>
              <a:rPr sz="1350" b="0">
                <a:solidFill>
                  <a:srgbClr val="52514E"/>
                </a:solidFill>
                <a:latin typeface="Segoe UI"/>
              </a:rPr>
              <a:t>A Viewer asks for Lead from their profile page, with a reason. Every administrator is notified and the first to decide wins.</a:t>
            </a:r>
          </a:p>
          <a:p>
            <a:pPr>
              <a:lnSpc>
                <a:spcPct val="118000"/>
              </a:lnSpc>
              <a:spcBef>
                <a:spcPts val="1300"/>
              </a:spcBef>
              <a:spcAft>
                <a:spcPts val="0"/>
              </a:spcAft>
            </a:pPr>
            <a:r>
              <a:rPr sz="1600" b="1">
                <a:solidFill>
                  <a:srgbClr val="0B0B0B"/>
                </a:solidFill>
                <a:latin typeface="Segoe UI"/>
              </a:rPr>
              <a:t>·  Leavers stop receiving mail</a:t>
            </a:r>
          </a:p>
          <a:p>
            <a:pPr lvl="1">
              <a:lnSpc>
                <a:spcPct val="118000"/>
              </a:lnSpc>
              <a:spcBef>
                <a:spcPts val="200"/>
              </a:spcBef>
              <a:spcAft>
                <a:spcPts val="0"/>
              </a:spcAft>
            </a:pPr>
            <a:r>
              <a:rPr sz="1350" b="0">
                <a:solidFill>
                  <a:srgbClr val="52514E"/>
                </a:solidFill>
                <a:latin typeface="Segoe UI"/>
              </a:rPr>
              <a:t>Accounts are reconciled against Keycloak daily, with guards that refuse to deactivate everybody at once.</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FAILURE BEHAVIOUR</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When something goes wrong</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50800" cy="4370832"/>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7552"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FAB219"/>
                </a:solidFill>
                <a:latin typeface="Segoe UI"/>
              </a:rPr>
              <a:t>It fails quietly in the safe direction</a:t>
            </a:r>
          </a:p>
          <a:p>
            <a:pPr>
              <a:lnSpc>
                <a:spcPct val="118000"/>
              </a:lnSpc>
              <a:spcBef>
                <a:spcPts val="1400"/>
              </a:spcBef>
              <a:spcAft>
                <a:spcPts val="0"/>
              </a:spcAft>
            </a:pPr>
            <a:r>
              <a:rPr sz="1300" b="0">
                <a:solidFill>
                  <a:srgbClr val="52514E"/>
                </a:solidFill>
                <a:latin typeface="Segoe UI"/>
              </a:rPr>
              <a:t>·  No queues assigned shows nothing, never everything</a:t>
            </a:r>
          </a:p>
          <a:p>
            <a:pPr>
              <a:lnSpc>
                <a:spcPct val="118000"/>
              </a:lnSpc>
              <a:spcBef>
                <a:spcPts val="1100"/>
              </a:spcBef>
              <a:spcAft>
                <a:spcPts val="0"/>
              </a:spcAft>
            </a:pPr>
            <a:r>
              <a:rPr sz="1300" b="0">
                <a:solidFill>
                  <a:srgbClr val="52514E"/>
                </a:solidFill>
                <a:latin typeface="Segoe UI"/>
              </a:rPr>
              <a:t>·  A ticket outside your scope is indistinguishable from one that does not exist</a:t>
            </a:r>
          </a:p>
          <a:p>
            <a:pPr>
              <a:lnSpc>
                <a:spcPct val="118000"/>
              </a:lnSpc>
              <a:spcBef>
                <a:spcPts val="1100"/>
              </a:spcBef>
              <a:spcAft>
                <a:spcPts val="0"/>
              </a:spcAft>
            </a:pPr>
            <a:r>
              <a:rPr sz="1300" b="0">
                <a:solidFill>
                  <a:srgbClr val="52514E"/>
                </a:solidFill>
                <a:latin typeface="Segoe UI"/>
              </a:rPr>
              <a:t>·  ServiceNow unreachable leaves the board as it was</a:t>
            </a:r>
          </a:p>
          <a:p>
            <a:pPr>
              <a:lnSpc>
                <a:spcPct val="118000"/>
              </a:lnSpc>
              <a:spcBef>
                <a:spcPts val="1100"/>
              </a:spcBef>
              <a:spcAft>
                <a:spcPts val="0"/>
              </a:spcAft>
            </a:pPr>
            <a:r>
              <a:rPr sz="1300" b="0">
                <a:solidFill>
                  <a:srgbClr val="52514E"/>
                </a:solidFill>
                <a:latin typeface="Segoe UI"/>
              </a:rPr>
              <a:t>·  A model failure withholds the recommendation; signals still show</a:t>
            </a:r>
          </a:p>
          <a:p>
            <a:pPr>
              <a:lnSpc>
                <a:spcPct val="118000"/>
              </a:lnSpc>
              <a:spcBef>
                <a:spcPts val="1100"/>
              </a:spcBef>
              <a:spcAft>
                <a:spcPts val="0"/>
              </a:spcAft>
            </a:pPr>
            <a:r>
              <a:rPr sz="1300" b="0">
                <a:solidFill>
                  <a:srgbClr val="52514E"/>
                </a:solidFill>
                <a:latin typeface="Segoe UI"/>
              </a:rPr>
              <a:t>·  A mass "everyone has left" result changes nothing</a:t>
            </a:r>
          </a:p>
        </p:txBody>
      </p:sp>
      <p:sp>
        <p:nvSpPr>
          <p:cNvPr id="9" name="Rounded Rectangle 8"/>
          <p:cNvSpPr/>
          <p:nvPr/>
        </p:nvSpPr>
        <p:spPr>
          <a:xfrm>
            <a:off x="6278727"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755648"/>
            <a:ext cx="50800" cy="43708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53047"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2A78D6"/>
                </a:solidFill>
                <a:latin typeface="Segoe UI"/>
              </a:rPr>
              <a:t>And says so</a:t>
            </a:r>
          </a:p>
          <a:p>
            <a:pPr>
              <a:lnSpc>
                <a:spcPct val="118000"/>
              </a:lnSpc>
              <a:spcBef>
                <a:spcPts val="1400"/>
              </a:spcBef>
              <a:spcAft>
                <a:spcPts val="0"/>
              </a:spcAft>
            </a:pPr>
            <a:r>
              <a:rPr sz="1300" b="0">
                <a:solidFill>
                  <a:srgbClr val="52514E"/>
                </a:solidFill>
                <a:latin typeface="Segoe UI"/>
              </a:rPr>
              <a:t>·  A built-in health check covers every dependency</a:t>
            </a:r>
          </a:p>
          <a:p>
            <a:pPr>
              <a:lnSpc>
                <a:spcPct val="118000"/>
              </a:lnSpc>
              <a:spcBef>
                <a:spcPts val="1100"/>
              </a:spcBef>
              <a:spcAft>
                <a:spcPts val="0"/>
              </a:spcAft>
            </a:pPr>
            <a:r>
              <a:rPr sz="1300" b="0">
                <a:solidFill>
                  <a:srgbClr val="52514E"/>
                </a:solidFill>
                <a:latin typeface="Segoe UI"/>
              </a:rPr>
              <a:t>·  Sync state, watermark and last error are recorded each run</a:t>
            </a:r>
          </a:p>
          <a:p>
            <a:pPr>
              <a:lnSpc>
                <a:spcPct val="118000"/>
              </a:lnSpc>
              <a:spcBef>
                <a:spcPts val="1100"/>
              </a:spcBef>
              <a:spcAft>
                <a:spcPts val="0"/>
              </a:spcAft>
            </a:pPr>
            <a:r>
              <a:rPr sz="1300" b="0">
                <a:solidFill>
                  <a:srgbClr val="52514E"/>
                </a:solidFill>
                <a:latin typeface="Segoe UI"/>
              </a:rPr>
              <a:t>·  Shadow mode computes everything and sends nothing</a:t>
            </a:r>
          </a:p>
          <a:p>
            <a:pPr>
              <a:lnSpc>
                <a:spcPct val="118000"/>
              </a:lnSpc>
              <a:spcBef>
                <a:spcPts val="1100"/>
              </a:spcBef>
              <a:spcAft>
                <a:spcPts val="0"/>
              </a:spcAft>
            </a:pPr>
            <a:r>
              <a:rPr sz="1300" b="0">
                <a:solidFill>
                  <a:srgbClr val="52514E"/>
                </a:solidFill>
                <a:latin typeface="Segoe UI"/>
              </a:rPr>
              <a:t>·  Every retirement from the board is logged with its reason</a:t>
            </a:r>
          </a:p>
          <a:p>
            <a:pPr>
              <a:lnSpc>
                <a:spcPct val="118000"/>
              </a:lnSpc>
              <a:spcBef>
                <a:spcPts val="1100"/>
              </a:spcBef>
              <a:spcAft>
                <a:spcPts val="0"/>
              </a:spcAft>
            </a:pPr>
            <a:r>
              <a:rPr sz="1300" b="0">
                <a:solidFill>
                  <a:srgbClr val="52514E"/>
                </a:solidFill>
                <a:latin typeface="Segoe UI"/>
              </a:rPr>
              <a:t>·  Alert history is kept, so a missed warning is auditable</a:t>
            </a:r>
          </a:p>
        </p:txBody>
      </p:sp>
      <p:sp>
        <p:nvSpPr>
          <p:cNvPr id="12" name="TextBox 11"/>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13" name="TextBox 12"/>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13232" y="2286000"/>
            <a:ext cx="10765231" cy="2011680"/>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08</a:t>
            </a:r>
          </a:p>
          <a:p>
            <a:pPr>
              <a:lnSpc>
                <a:spcPct val="118000"/>
              </a:lnSpc>
              <a:spcBef>
                <a:spcPts val="1000"/>
              </a:spcBef>
              <a:spcAft>
                <a:spcPts val="0"/>
              </a:spcAft>
            </a:pPr>
            <a:r>
              <a:rPr sz="3600" b="1">
                <a:solidFill>
                  <a:srgbClr val="0B0B0B"/>
                </a:solidFill>
                <a:latin typeface="Segoe UI"/>
              </a:rPr>
              <a:t>The pilot</a:t>
            </a:r>
          </a:p>
          <a:p>
            <a:pPr>
              <a:lnSpc>
                <a:spcPct val="118000"/>
              </a:lnSpc>
              <a:spcBef>
                <a:spcPts val="1400"/>
              </a:spcBef>
              <a:spcAft>
                <a:spcPts val="0"/>
              </a:spcAft>
            </a:pPr>
            <a:r>
              <a:rPr sz="1500" b="0">
                <a:solidFill>
                  <a:srgbClr val="52514E"/>
                </a:solidFill>
                <a:latin typeface="Segoe UI"/>
              </a:rPr>
              <a:t>What we are proposing, and what we need</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Proposed sequence</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5" name="Table 4"/>
          <p:cNvGraphicFramePr>
            <a:graphicFrameLocks noGrp="1"/>
          </p:cNvGraphicFramePr>
          <p:nvPr/>
        </p:nvGraphicFramePr>
        <p:xfrm>
          <a:off x="713232" y="1444752"/>
          <a:ext cx="10765229" cy="2011680"/>
        </p:xfrm>
        <a:graphic>
          <a:graphicData uri="http://schemas.openxmlformats.org/drawingml/2006/table">
            <a:tbl>
              <a:tblPr firstRow="1" bandRow="1">
                <a:tableStyleId>{5C22544A-7EE6-4342-B048-85BDC9FD1C3A}</a:tableStyleId>
              </a:tblPr>
              <a:tblGrid>
                <a:gridCol w="1937741"/>
                <a:gridCol w="1507132"/>
                <a:gridCol w="3660178"/>
                <a:gridCol w="3660178"/>
              </a:tblGrid>
              <a:tr h="402336">
                <a:tc>
                  <a:txBody>
                    <a:bodyPr wrap="square"/>
                    <a:lstStyle/>
                    <a:p>
                      <a:pPr>
                        <a:lnSpc>
                          <a:spcPct val="118000"/>
                        </a:lnSpc>
                        <a:spcBef>
                          <a:spcPts val="0"/>
                        </a:spcBef>
                        <a:spcAft>
                          <a:spcPts val="0"/>
                        </a:spcAft>
                      </a:pPr>
                      <a:r>
                        <a:rPr sz="1150" b="1">
                          <a:solidFill>
                            <a:srgbClr val="FFFFFF"/>
                          </a:solidFill>
                          <a:latin typeface="Segoe UI"/>
                        </a:rPr>
                        <a:t>Stage</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Duration</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What happens</a:t>
                      </a:r>
                    </a:p>
                  </a:txBody>
                  <a:tcPr anchor="ctr" marL="109728">
                    <a:solidFill>
                      <a:srgbClr val="0B0B0B"/>
                    </a:solidFill>
                  </a:tcPr>
                </a:tc>
                <a:tc>
                  <a:txBody>
                    <a:bodyPr wrap="square"/>
                    <a:lstStyle/>
                    <a:p>
                      <a:pPr>
                        <a:lnSpc>
                          <a:spcPct val="118000"/>
                        </a:lnSpc>
                        <a:spcBef>
                          <a:spcPts val="0"/>
                        </a:spcBef>
                        <a:spcAft>
                          <a:spcPts val="0"/>
                        </a:spcAft>
                      </a:pPr>
                      <a:r>
                        <a:rPr sz="1150" b="1">
                          <a:solidFill>
                            <a:srgbClr val="FFFFFF"/>
                          </a:solidFill>
                          <a:latin typeface="Segoe UI"/>
                        </a:rPr>
                        <a:t>What we learn</a:t>
                      </a:r>
                    </a:p>
                  </a:txBody>
                  <a:tcPr anchor="ctr" marL="109728">
                    <a:solidFill>
                      <a:srgbClr val="0B0B0B"/>
                    </a:solidFill>
                  </a:tcPr>
                </a:tc>
              </a:tr>
              <a:tr h="402336">
                <a:tc>
                  <a:txBody>
                    <a:bodyPr wrap="square"/>
                    <a:lstStyle/>
                    <a:p>
                      <a:pPr>
                        <a:lnSpc>
                          <a:spcPct val="118000"/>
                        </a:lnSpc>
                        <a:spcBef>
                          <a:spcPts val="0"/>
                        </a:spcBef>
                        <a:spcAft>
                          <a:spcPts val="0"/>
                        </a:spcAft>
                      </a:pPr>
                      <a:r>
                        <a:rPr sz="1200" b="0">
                          <a:solidFill>
                            <a:srgbClr val="0B0B0B"/>
                          </a:solidFill>
                          <a:latin typeface="Segoe UI"/>
                        </a:rPr>
                        <a:t>Shadow</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1 week</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Everything computes, nothing is emailed</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Whether the ranking matches your judgement</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Tune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 few days</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Adjust weights and thresholds for this queue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What this team actually prioritises</a:t>
                      </a:r>
                    </a:p>
                  </a:txBody>
                  <a:tcPr anchor="ctr" marL="109728">
                    <a:solidFill>
                      <a:srgbClr val="F9F9F7"/>
                    </a:solidFill>
                  </a:tcPr>
                </a:tc>
              </a:tr>
              <a:tr h="402336">
                <a:tc>
                  <a:txBody>
                    <a:bodyPr wrap="square"/>
                    <a:lstStyle/>
                    <a:p>
                      <a:pPr>
                        <a:lnSpc>
                          <a:spcPct val="118000"/>
                        </a:lnSpc>
                        <a:spcBef>
                          <a:spcPts val="0"/>
                        </a:spcBef>
                        <a:spcAft>
                          <a:spcPts val="0"/>
                        </a:spcAft>
                      </a:pPr>
                      <a:r>
                        <a:rPr sz="1200" b="0">
                          <a:solidFill>
                            <a:srgbClr val="0B0B0B"/>
                          </a:solidFill>
                          <a:latin typeface="Segoe UI"/>
                        </a:rPr>
                        <a:t>Live, one queue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2 weeks</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Digest and alerts on for the pilot queue</a:t>
                      </a:r>
                    </a:p>
                  </a:txBody>
                  <a:tcPr anchor="ctr" marL="109728">
                    <a:solidFill>
                      <a:srgbClr val="FCFCFB"/>
                    </a:solidFill>
                  </a:tcPr>
                </a:tc>
                <a:tc>
                  <a:txBody>
                    <a:bodyPr wrap="square"/>
                    <a:lstStyle/>
                    <a:p>
                      <a:pPr>
                        <a:lnSpc>
                          <a:spcPct val="118000"/>
                        </a:lnSpc>
                        <a:spcBef>
                          <a:spcPts val="0"/>
                        </a:spcBef>
                        <a:spcAft>
                          <a:spcPts val="0"/>
                        </a:spcAft>
                      </a:pPr>
                      <a:r>
                        <a:rPr sz="1200" b="0">
                          <a:solidFill>
                            <a:srgbClr val="52514E"/>
                          </a:solidFill>
                          <a:latin typeface="Segoe UI"/>
                        </a:rPr>
                        <a:t>Agreement rate, false quiet, review time</a:t>
                      </a:r>
                    </a:p>
                  </a:txBody>
                  <a:tcPr anchor="ctr" marL="109728">
                    <a:solidFill>
                      <a:srgbClr val="FCFCFB"/>
                    </a:solidFill>
                  </a:tcPr>
                </a:tc>
              </a:tr>
              <a:tr h="402336">
                <a:tc>
                  <a:txBody>
                    <a:bodyPr wrap="square"/>
                    <a:lstStyle/>
                    <a:p>
                      <a:pPr>
                        <a:lnSpc>
                          <a:spcPct val="118000"/>
                        </a:lnSpc>
                        <a:spcBef>
                          <a:spcPts val="0"/>
                        </a:spcBef>
                        <a:spcAft>
                          <a:spcPts val="0"/>
                        </a:spcAft>
                      </a:pPr>
                      <a:r>
                        <a:rPr sz="1200" b="0">
                          <a:solidFill>
                            <a:srgbClr val="0B0B0B"/>
                          </a:solidFill>
                          <a:latin typeface="Segoe UI"/>
                        </a:rPr>
                        <a:t>Decide</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Keep, change or stop, on the numbers</a:t>
                      </a:r>
                    </a:p>
                  </a:txBody>
                  <a:tcPr anchor="ctr" marL="109728">
                    <a:solidFill>
                      <a:srgbClr val="F9F9F7"/>
                    </a:solidFill>
                  </a:tcPr>
                </a:tc>
                <a:tc>
                  <a:txBody>
                    <a:bodyPr wrap="square"/>
                    <a:lstStyle/>
                    <a:p>
                      <a:pPr>
                        <a:lnSpc>
                          <a:spcPct val="118000"/>
                        </a:lnSpc>
                        <a:spcBef>
                          <a:spcPts val="0"/>
                        </a:spcBef>
                        <a:spcAft>
                          <a:spcPts val="0"/>
                        </a:spcAft>
                      </a:pPr>
                      <a:r>
                        <a:rPr sz="1200" b="0">
                          <a:solidFill>
                            <a:srgbClr val="52514E"/>
                          </a:solidFill>
                          <a:latin typeface="Segoe UI"/>
                        </a:rPr>
                        <a:t>Whether to extend to the other queues</a:t>
                      </a:r>
                    </a:p>
                  </a:txBody>
                  <a:tcPr anchor="ctr" marL="109728">
                    <a:solidFill>
                      <a:srgbClr val="F9F9F7"/>
                    </a:solidFill>
                  </a:tcPr>
                </a:tc>
              </a:tr>
            </a:tbl>
          </a:graphicData>
        </a:graphic>
      </p:graphicFrame>
      <p:sp>
        <p:nvSpPr>
          <p:cNvPr id="6" name="TextBox 5"/>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7" name="TextBox 6"/>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THE ASK</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we need from the teams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Two or three leads recording verdicts</a:t>
            </a:r>
          </a:p>
          <a:p>
            <a:pPr lvl="1">
              <a:lnSpc>
                <a:spcPct val="118000"/>
              </a:lnSpc>
              <a:spcBef>
                <a:spcPts val="200"/>
              </a:spcBef>
              <a:spcAft>
                <a:spcPts val="0"/>
              </a:spcAft>
            </a:pPr>
            <a:r>
              <a:rPr sz="1350" b="0">
                <a:solidFill>
                  <a:srgbClr val="52514E"/>
                </a:solidFill>
                <a:latin typeface="Segoe UI"/>
              </a:rPr>
              <a:t>Roughly fifteen tickets a day between them is enough for a meaningful agreement rate inside two weeks.</a:t>
            </a:r>
          </a:p>
          <a:p>
            <a:pPr>
              <a:lnSpc>
                <a:spcPct val="118000"/>
              </a:lnSpc>
              <a:spcBef>
                <a:spcPts val="1300"/>
              </a:spcBef>
              <a:spcAft>
                <a:spcPts val="0"/>
              </a:spcAft>
            </a:pPr>
            <a:r>
              <a:rPr sz="1600" b="1">
                <a:solidFill>
                  <a:srgbClr val="0B0B0B"/>
                </a:solidFill>
                <a:latin typeface="Segoe UI"/>
              </a:rPr>
              <a:t>·  One queue to start with</a:t>
            </a:r>
          </a:p>
          <a:p>
            <a:pPr lvl="1">
              <a:lnSpc>
                <a:spcPct val="118000"/>
              </a:lnSpc>
              <a:spcBef>
                <a:spcPts val="200"/>
              </a:spcBef>
              <a:spcAft>
                <a:spcPts val="0"/>
              </a:spcAft>
            </a:pPr>
            <a:r>
              <a:rPr sz="1350" b="0">
                <a:solidFill>
                  <a:srgbClr val="52514E"/>
                </a:solidFill>
                <a:latin typeface="Segoe UI"/>
              </a:rPr>
              <a:t>Whichever has the most aged pending tickets - the tool is least useful and least interesting on a clean queue.</a:t>
            </a:r>
          </a:p>
          <a:p>
            <a:pPr>
              <a:lnSpc>
                <a:spcPct val="118000"/>
              </a:lnSpc>
              <a:spcBef>
                <a:spcPts val="1300"/>
              </a:spcBef>
              <a:spcAft>
                <a:spcPts val="0"/>
              </a:spcAft>
            </a:pPr>
            <a:r>
              <a:rPr sz="1600" b="1">
                <a:solidFill>
                  <a:srgbClr val="0B0B0B"/>
                </a:solidFill>
                <a:latin typeface="Segoe UI"/>
              </a:rPr>
              <a:t>·  Honest disagreement about the ranking</a:t>
            </a:r>
          </a:p>
          <a:p>
            <a:pPr lvl="1">
              <a:lnSpc>
                <a:spcPct val="118000"/>
              </a:lnSpc>
              <a:spcBef>
                <a:spcPts val="200"/>
              </a:spcBef>
              <a:spcAft>
                <a:spcPts val="0"/>
              </a:spcAft>
            </a:pPr>
            <a:r>
              <a:rPr sz="1350" b="0">
                <a:solidFill>
                  <a:srgbClr val="52514E"/>
                </a:solidFill>
                <a:latin typeface="Segoe UI"/>
              </a:rPr>
              <a:t>If age matters less here than SLA risk, we change the weights. That conversation is the point of the pilot.</a:t>
            </a:r>
          </a:p>
          <a:p>
            <a:pPr>
              <a:lnSpc>
                <a:spcPct val="118000"/>
              </a:lnSpc>
              <a:spcBef>
                <a:spcPts val="1300"/>
              </a:spcBef>
              <a:spcAft>
                <a:spcPts val="0"/>
              </a:spcAft>
            </a:pPr>
            <a:r>
              <a:rPr sz="1600" b="1">
                <a:solidFill>
                  <a:srgbClr val="0B0B0B"/>
                </a:solidFill>
                <a:latin typeface="Segoe UI"/>
              </a:rPr>
              <a:t>·  Thirty minutes at the end of week one</a:t>
            </a:r>
          </a:p>
          <a:p>
            <a:pPr lvl="1">
              <a:lnSpc>
                <a:spcPct val="118000"/>
              </a:lnSpc>
              <a:spcBef>
                <a:spcPts val="200"/>
              </a:spcBef>
              <a:spcAft>
                <a:spcPts val="0"/>
              </a:spcAft>
            </a:pPr>
            <a:r>
              <a:rPr sz="1350" b="0">
                <a:solidFill>
                  <a:srgbClr val="52514E"/>
                </a:solidFill>
                <a:latin typeface="Segoe UI"/>
              </a:rPr>
              <a:t>To look at where it was wrong before anything goes live.</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THE COMMITMENT</a:t>
            </a:r>
          </a:p>
          <a:p>
            <a:pPr>
              <a:lnSpc>
                <a:spcPct val="118000"/>
              </a:lnSpc>
              <a:spcBef>
                <a:spcPts val="1400"/>
              </a:spcBef>
              <a:spcAft>
                <a:spcPts val="0"/>
              </a:spcAft>
            </a:pPr>
            <a:r>
              <a:rPr sz="3000" b="1">
                <a:solidFill>
                  <a:srgbClr val="0B0B0B"/>
                </a:solidFill>
                <a:latin typeface="Segoe UI"/>
              </a:rPr>
              <a:t>If the agreement rate is poor, we will say so on this slide in six weeks.</a:t>
            </a:r>
          </a:p>
          <a:p>
            <a:pPr>
              <a:lnSpc>
                <a:spcPct val="118000"/>
              </a:lnSpc>
              <a:spcBef>
                <a:spcPts val="1600"/>
              </a:spcBef>
              <a:spcAft>
                <a:spcPts val="0"/>
              </a:spcAft>
            </a:pPr>
            <a:r>
              <a:rPr sz="1500" b="0">
                <a:solidFill>
                  <a:srgbClr val="52514E"/>
                </a:solidFill>
                <a:latin typeface="Segoe UI"/>
              </a:rPr>
              <a:t>The measurement exists so this tool can be judged rather than believed. Questions, then the live board.</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Detailed walkthrough</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